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3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c1a3e8ca0d429a" /><Relationship Type="http://schemas.openxmlformats.org/officeDocument/2006/relationships/extended-properties" Target="/docProps/app.xml" Id="R1f5aa6b9c9214455" /><Relationship Type="http://schemas.openxmlformats.org/officeDocument/2006/relationships/officeDocument" Target="/ppt/presentation.xml" Id="R2cd1ff6b426642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7f46feec7c4015"/>
  </p:sldMasterIdLst>
  <p:notesMasterIdLst>
    <p:notesMasterId xmlns:r="http://schemas.openxmlformats.org/officeDocument/2006/relationships" r:id="Rb6b901ed391c46fe"/>
  </p:notesMasterIdLst>
  <p:sldIdLst>
    <p:sldId xmlns:r="http://schemas.openxmlformats.org/officeDocument/2006/relationships" id="256" r:id="Re3c8f54523fc47ae"/>
    <p:sldId xmlns:r="http://schemas.openxmlformats.org/officeDocument/2006/relationships" id="257" r:id="Rc09e47ceafe84680"/>
    <p:sldId xmlns:r="http://schemas.openxmlformats.org/officeDocument/2006/relationships" id="258" r:id="R23f189d220994156"/>
    <p:sldId xmlns:r="http://schemas.openxmlformats.org/officeDocument/2006/relationships" id="259" r:id="R0828b4dd700f4f78"/>
    <p:sldId xmlns:r="http://schemas.openxmlformats.org/officeDocument/2006/relationships" id="260" r:id="R3dec482ba2ed4814"/>
    <p:sldId xmlns:r="http://schemas.openxmlformats.org/officeDocument/2006/relationships" id="261" r:id="R00442e615e4d4faf"/>
    <p:sldId xmlns:r="http://schemas.openxmlformats.org/officeDocument/2006/relationships" id="262" r:id="R855f206ee998425c"/>
    <p:sldId xmlns:r="http://schemas.openxmlformats.org/officeDocument/2006/relationships" id="263" r:id="R139483cc1dd04508"/>
    <p:sldId xmlns:r="http://schemas.openxmlformats.org/officeDocument/2006/relationships" id="264" r:id="R1edd6892c4db497a"/>
    <p:sldId xmlns:r="http://schemas.openxmlformats.org/officeDocument/2006/relationships" id="265" r:id="R9358b6e2d52b41ec"/>
    <p:sldId xmlns:r="http://schemas.openxmlformats.org/officeDocument/2006/relationships" id="266" r:id="Rc49faf1c59e64d46"/>
    <p:sldId xmlns:r="http://schemas.openxmlformats.org/officeDocument/2006/relationships" id="267" r:id="Rd90dc58ccf0740ac"/>
    <p:sldId xmlns:r="http://schemas.openxmlformats.org/officeDocument/2006/relationships" id="268" r:id="Rc214da55dd6c466a"/>
    <p:sldId xmlns:r="http://schemas.openxmlformats.org/officeDocument/2006/relationships" id="269" r:id="R1b95887b91e04e53"/>
    <p:sldId xmlns:r="http://schemas.openxmlformats.org/officeDocument/2006/relationships" id="270" r:id="R9835ed9fff3a4ad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2b88078b1e44c7" /><Relationship Type="http://schemas.openxmlformats.org/officeDocument/2006/relationships/slideMaster" Target="/ppt/slideMasters/slideMaster1.xml" Id="R787f46feec7c4015" /><Relationship Type="http://schemas.openxmlformats.org/officeDocument/2006/relationships/notesMaster" Target="/ppt/notesMasters/notesMaster1.xml" Id="Rb6b901ed391c46fe" /><Relationship Type="http://schemas.openxmlformats.org/officeDocument/2006/relationships/presProps" Target="/ppt/presProps.xml" Id="R3b00a2dc74004640" /><Relationship Type="http://schemas.openxmlformats.org/officeDocument/2006/relationships/tableStyles" Target="/ppt/tableStyles.xml" Id="R004c66deccec4cea" /><Relationship Type="http://schemas.openxmlformats.org/officeDocument/2006/relationships/slide" Target="/ppt/slides/slide1.xml" Id="Re3c8f54523fc47ae" /><Relationship Type="http://schemas.openxmlformats.org/officeDocument/2006/relationships/slide" Target="/ppt/slides/slide2.xml" Id="Rc09e47ceafe84680" /><Relationship Type="http://schemas.openxmlformats.org/officeDocument/2006/relationships/slide" Target="/ppt/slides/slide3.xml" Id="R23f189d220994156" /><Relationship Type="http://schemas.openxmlformats.org/officeDocument/2006/relationships/slide" Target="/ppt/slides/slide4.xml" Id="R0828b4dd700f4f78" /><Relationship Type="http://schemas.openxmlformats.org/officeDocument/2006/relationships/slide" Target="/ppt/slides/slide5.xml" Id="R3dec482ba2ed4814" /><Relationship Type="http://schemas.openxmlformats.org/officeDocument/2006/relationships/slide" Target="/ppt/slides/slide6.xml" Id="R00442e615e4d4faf" /><Relationship Type="http://schemas.openxmlformats.org/officeDocument/2006/relationships/slide" Target="/ppt/slides/slide7.xml" Id="R855f206ee998425c" /><Relationship Type="http://schemas.openxmlformats.org/officeDocument/2006/relationships/slide" Target="/ppt/slides/slide8.xml" Id="R139483cc1dd04508" /><Relationship Type="http://schemas.openxmlformats.org/officeDocument/2006/relationships/slide" Target="/ppt/slides/slide9.xml" Id="R1edd6892c4db497a" /><Relationship Type="http://schemas.openxmlformats.org/officeDocument/2006/relationships/slide" Target="/ppt/slides/slide10.xml" Id="R9358b6e2d52b41ec" /><Relationship Type="http://schemas.openxmlformats.org/officeDocument/2006/relationships/slide" Target="/ppt/slides/slide11.xml" Id="Rc49faf1c59e64d46" /><Relationship Type="http://schemas.openxmlformats.org/officeDocument/2006/relationships/slide" Target="/ppt/slides/slide12.xml" Id="Rd90dc58ccf0740ac" /><Relationship Type="http://schemas.openxmlformats.org/officeDocument/2006/relationships/slide" Target="/ppt/slides/slide13.xml" Id="Rc214da55dd6c466a" /><Relationship Type="http://schemas.openxmlformats.org/officeDocument/2006/relationships/slide" Target="/ppt/slides/slide14.xml" Id="R1b95887b91e04e53" /><Relationship Type="http://schemas.openxmlformats.org/officeDocument/2006/relationships/slide" Target="/ppt/slides/slide15.xml" Id="R9835ed9fff3a4a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d92934c05945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968634c0214cff" /><Relationship Type="http://schemas.openxmlformats.org/officeDocument/2006/relationships/notesMaster" Target="/ppt/notesMasters/notesMaster1.xml" Id="Rea632c21fee049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d29c700bfe46a6" /><Relationship Type="http://schemas.openxmlformats.org/officeDocument/2006/relationships/notesMaster" Target="/ppt/notesMasters/notesMaster1.xml" Id="R27f622f6f34240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167d9885574d2f" /><Relationship Type="http://schemas.openxmlformats.org/officeDocument/2006/relationships/notesMaster" Target="/ppt/notesMasters/notesMaster1.xml" Id="R94267027c2e74b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8f38cccf484667" /><Relationship Type="http://schemas.openxmlformats.org/officeDocument/2006/relationships/notesMaster" Target="/ppt/notesMasters/notesMaster1.xml" Id="R95637106944e45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329a1dfb80426c" /><Relationship Type="http://schemas.openxmlformats.org/officeDocument/2006/relationships/notesMaster" Target="/ppt/notesMasters/notesMaster1.xml" Id="Rcc1843873d5c41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ce07ed03064f96" /><Relationship Type="http://schemas.openxmlformats.org/officeDocument/2006/relationships/notesMaster" Target="/ppt/notesMasters/notesMaster1.xml" Id="Ra11eaf5d47ce4b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fdb37b18504675" /><Relationship Type="http://schemas.openxmlformats.org/officeDocument/2006/relationships/notesMaster" Target="/ppt/notesMasters/notesMaster1.xml" Id="Rd579624a249445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6cfd04566a48f0" /><Relationship Type="http://schemas.openxmlformats.org/officeDocument/2006/relationships/notesMaster" Target="/ppt/notesMasters/notesMaster1.xml" Id="R075b2827fa9742a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5457348c8d42ed" /><Relationship Type="http://schemas.openxmlformats.org/officeDocument/2006/relationships/notesMaster" Target="/ppt/notesMasters/notesMaster1.xml" Id="R3abb7204b2b64c8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4760f2cdda48f0" /><Relationship Type="http://schemas.openxmlformats.org/officeDocument/2006/relationships/notesMaster" Target="/ppt/notesMasters/notesMaster1.xml" Id="R7563e57590a34af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5eae4bc14f842dc" /><Relationship Type="http://schemas.openxmlformats.org/officeDocument/2006/relationships/notesMaster" Target="/ppt/notesMasters/notesMaster1.xml" Id="Ra1c4004b9e7e40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3964ff5e234886" /><Relationship Type="http://schemas.openxmlformats.org/officeDocument/2006/relationships/notesMaster" Target="/ppt/notesMasters/notesMaster1.xml" Id="R8a969ee018cd473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44f4f07a67545ec" /><Relationship Type="http://schemas.openxmlformats.org/officeDocument/2006/relationships/notesMaster" Target="/ppt/notesMasters/notesMaster1.xml" Id="R66f5987735fa4d7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d58527890b14ab3" /><Relationship Type="http://schemas.openxmlformats.org/officeDocument/2006/relationships/notesMaster" Target="/ppt/notesMasters/notesMaster1.xml" Id="Re4d8dd217ff645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00bd3b507bb4de3" /><Relationship Type="http://schemas.openxmlformats.org/officeDocument/2006/relationships/notesMaster" Target="/ppt/notesMasters/notesMaster1.xml" Id="R3c647b91f4b643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source_material/competition_task_financial_product_agent.pdf 7쪽;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source_material/official_notices/2026-08-24-data-refresh-and-runtime-rules.md; artifacts/manifest.json;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docs/02_FINAL_FROZEN_DESIGN.md; docs/submission/API_SCHEMA.md;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tools/audit_source_data.py; config/artifact_build.yaml; artifacts/manifest.json;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ontology/common.ttl; ontology/bond_kr.ttl; ontology/etf_kr.ttl; ontology/etf_gl.ttl; ontology/fund_pub.ttl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src/finproof/planner/structured_planner.py; schemas/query_plan.schema.json; config/planner_catalog.yaml; config/field_registry.yaml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docs/02_FINAL_FROZEN_DESIGN.md; src/finproof/query/segmentation.py; config/metric_registry.yaml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schemas/evidence_record.schema.json; src/finproof/evidence; src/finproof/verification; docs/submission/API_SCHEMA.md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docs/submission/API_SCHEMA.md; source_material/official_notices/2026-08-24-data-refresh-and-runtime-rules.md; docs/10_DECISION_LOG.md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docs/superpowers/plans/2026-09-03-blind-evaluation-and-submission-hardening.md; artifacts/evaluation/blind-holdout-candidate.json; artifacts/evaluation/blind-holdout-summary.json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artifacts/evaluation/blind-development-deterministic.json; artifacts/evaluation/blind-holdout-summary.json; artifacts/evaluation/ablation-organizer-20260824.json;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artifacts/evaluation/blind-development-deterministic.json; artifacts/evaluation/final-load.json; artifacts/evaluation/final-soak.json; artifacts/evaluation/blind-holdout-summary.json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config/field_registry.yaml; config/metric_registry.yaml; config/state_rules.yaml; schemas/evidence_record.schema.json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README.md; docs/submission/API_SCHEMA.md; docs/submission/SUBMISSION_CHECKLIST.md; docs/submission/PROPOSAL_EVIDENCE_INDEX.md; source_material/competition_task_financial_product_agent.pdf 8-11쪽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01aabe86184d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f066f08115413f" /><Relationship Type="http://schemas.openxmlformats.org/officeDocument/2006/relationships/slideLayout" Target="/ppt/slideLayouts/slideLayout1.xml" Id="Reb162560cfcf44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b162560cfcf44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40272049645f4" /><Relationship Type="http://schemas.openxmlformats.org/officeDocument/2006/relationships/notesSlide" Target="/ppt/notesSlides/notesSlide1.xml" Id="R3e5ccfef7c3d4d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acbacfd28401b" /><Relationship Type="http://schemas.openxmlformats.org/officeDocument/2006/relationships/chart" Target="/ppt/slides/charts/chart1.xml" Id="R493e8ab8ef0e4bed" /><Relationship Type="http://schemas.openxmlformats.org/officeDocument/2006/relationships/notesSlide" Target="/ppt/notesSlides/notesSlide2.xml" Id="R34763defa14940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dce2d2632c4b8a" /><Relationship Type="http://schemas.openxmlformats.org/officeDocument/2006/relationships/notesSlide" Target="/ppt/notesSlides/notesSlide3.xml" Id="R80860149d29f4f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016f6a9d534c74" /><Relationship Type="http://schemas.openxmlformats.org/officeDocument/2006/relationships/notesSlide" Target="/ppt/notesSlides/notesSlide4.xml" Id="R2e815f0548be43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05f4abc3524be5" /><Relationship Type="http://schemas.openxmlformats.org/officeDocument/2006/relationships/notesSlide" Target="/ppt/notesSlides/notesSlide5.xml" Id="R301fe5e3e59e4d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b282fa0aed423e" /><Relationship Type="http://schemas.openxmlformats.org/officeDocument/2006/relationships/notesSlide" Target="/ppt/notesSlides/notesSlide6.xml" Id="R68ed0686138340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cba15e3cdd4fb4" /><Relationship Type="http://schemas.openxmlformats.org/officeDocument/2006/relationships/notesSlide" Target="/ppt/notesSlides/notesSlide7.xml" Id="Ra4ec1492097b40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9afd38dd994ade" /><Relationship Type="http://schemas.openxmlformats.org/officeDocument/2006/relationships/notesSlide" Target="/ppt/notesSlides/notesSlide8.xml" Id="R54b44b6c2c6346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50112caef4e49" /><Relationship Type="http://schemas.openxmlformats.org/officeDocument/2006/relationships/notesSlide" Target="/ppt/notesSlides/notesSlide9.xml" Id="R517de7474a284ba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2b7933bedd4219" /><Relationship Type="http://schemas.openxmlformats.org/officeDocument/2006/relationships/notesSlide" Target="/ppt/notesSlides/notesSlide10.xml" Id="R0e147d0a49364f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8368cd718a4136" /><Relationship Type="http://schemas.openxmlformats.org/officeDocument/2006/relationships/notesSlide" Target="/ppt/notesSlides/notesSlide11.xml" Id="Ra09eb458f1834be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07b0ee3254270" /><Relationship Type="http://schemas.openxmlformats.org/officeDocument/2006/relationships/chart" Target="/ppt/slides/charts/chart2.xml" Id="Ra097f94b4aef4326" /><Relationship Type="http://schemas.openxmlformats.org/officeDocument/2006/relationships/notesSlide" Target="/ppt/notesSlides/notesSlide12.xml" Id="Rfec908ad873b479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1fc9a0f76b4083" /><Relationship Type="http://schemas.openxmlformats.org/officeDocument/2006/relationships/chart" Target="/ppt/slides/charts/chart3.xml" Id="R254c6d585dbd446b" /><Relationship Type="http://schemas.openxmlformats.org/officeDocument/2006/relationships/notesSlide" Target="/ppt/notesSlides/notesSlide13.xml" Id="Re2480e3f47d9419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721a2429aa49b2" /><Relationship Type="http://schemas.openxmlformats.org/officeDocument/2006/relationships/notesSlide" Target="/ppt/notesSlides/notesSlide14.xml" Id="R997125e2984542a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87b5e8913d4afb" /><Relationship Type="http://schemas.openxmlformats.org/officeDocument/2006/relationships/notesSlide" Target="/ppt/notesSlides/notesSlide15.xml" Id="R2573690e7c7c4c0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doughnutChart>
        <c:ser>
          <c:idx val="0"/>
          <c:order val="0"/>
          <c:tx>
            <c:v>배점</c:v>
          </c:tx>
          <c:dPt>
            <c:idx val="0"/>
            <c:spPr>
              <a:solidFill xmlns:a="http://schemas.openxmlformats.org/drawingml/2006/main">
                <a:srgbClr val="62B5E5"/>
              </a:solidFill>
            </c:spPr>
          </c:dPt>
          <c:dPt>
            <c:idx val="1"/>
            <c:spPr>
              <a:solidFill xmlns:a="http://schemas.openxmlformats.org/drawingml/2006/main">
                <a:srgbClr val="00A88F"/>
              </a:solidFill>
            </c:spPr>
          </c:dPt>
          <c:dPt>
            <c:idx val="2"/>
            <c:spPr>
              <a:solidFill xmlns:a="http://schemas.openxmlformats.org/drawingml/2006/main">
                <a:srgbClr val="2D6CDF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소스코드</c:v>
                </c:pt>
                <c:pt idx="1">
                  <c:v>기술 제안서</c:v>
                </c:pt>
                <c:pt idx="2">
                  <c:v>평가 API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20</c:v>
                </c:pt>
                <c:pt idx="1">
                  <c:v>40</c:v>
                </c:pt>
                <c:pt idx="2">
                  <c:v>40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latin typeface="Apple SD Gothic Neo"/>
                  <a:ea typeface="Apple SD Gothic Neo"/>
                  <a:cs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270"/>
        <c:holeSize val="62"/>
      </c:doughnutChart>
      <c:spPr>
        <a:solidFill xmlns:a="http://schemas.openxmlformats.org/drawingml/2006/main">
          <a:srgbClr val="F7F9FC"/>
        </a:solidFill>
        <a:ln xmlns:a="http://schemas.openxmlformats.org/drawingml/2006/main" w="0">
          <a:solidFill>
            <a:srgbClr val="F7F9FC"/>
          </a:solidFill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latin typeface="Apple SD Gothic Neo"/>
              <a:ea typeface="Apple SD Gothic Neo"/>
              <a:cs typeface="Apple SD Gothic Neo"/>
            </a:defRPr>
          </a:pPr>
        </a:p>
      </c:txPr>
    </c:legend>
    <c:plotVisOnly val="1"/>
  </c:chart>
  <c:spPr>
    <a:solidFill xmlns:a="http://schemas.openxmlformats.org/drawingml/2006/main">
      <a:srgbClr val="F7F9FC"/>
    </a:solidFill>
    <a:ln xmlns:a="http://schemas.openxmlformats.org/drawingml/2006/main" w="0">
      <a:solidFill>
        <a:srgbClr val="F7F9FC"/>
      </a:solidFill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Holdout</c:v>
          </c:tx>
          <c:spPr>
            <a:solidFill xmlns:a="http://schemas.openxmlformats.org/drawingml/2006/main">
              <a:srgbClr val="2D6CDF"/>
            </a:solidFill>
          </c:spPr>
          <c:cat>
            <c:strRef>
              <c:f>'Chart Data'!$A$2:$A$6</c:f>
              <c:strCache>
                <c:ptCount val="5"/>
                <c:pt idx="0">
                  <c:v>Filter</c:v>
                </c:pt>
                <c:pt idx="1">
                  <c:v>Product</c:v>
                </c:pt>
                <c:pt idx="2">
                  <c:v>Numeric</c:v>
                </c:pt>
                <c:pt idx="3">
                  <c:v>Evidence</c:v>
                </c:pt>
                <c:pt idx="4">
                  <c:v>Semantics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87.04</c:v>
                </c:pt>
                <c:pt idx="1">
                  <c:v>59.04</c:v>
                </c:pt>
                <c:pt idx="2">
                  <c:v>52.17</c:v>
                </c:pt>
                <c:pt idx="3">
                  <c:v>42.98</c:v>
                </c:pt>
                <c:pt idx="4">
                  <c:v>58.78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latin typeface="Apple SD Gothic Neo"/>
                  <a:ea typeface="Apple SD Gothic Neo"/>
                  <a:cs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9FC"/>
        </a:solidFill>
        <a:ln xmlns:a="http://schemas.openxmlformats.org/drawingml/2006/main" w="9525">
          <a:solidFill>
            <a:srgbClr val="E8EEF4"/>
          </a:solidFill>
        </a:ln>
      </c:spPr>
    </c:plotArea>
    <c:plotVisOnly val="1"/>
  </c:chart>
  <c:spPr>
    <a:solidFill xmlns:a="http://schemas.openxmlformats.org/drawingml/2006/main">
      <a:srgbClr val="F7F9FC"/>
    </a:solidFill>
    <a:ln xmlns:a="http://schemas.openxmlformats.org/drawingml/2006/main" w="0">
      <a:solidFill>
        <a:srgbClr val="F7F9FC"/>
      </a:solidFill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p95 ms</c:v>
          </c:tx>
          <c:spPr>
            <a:solidFill xmlns:a="http://schemas.openxmlformats.org/drawingml/2006/main">
              <a:srgbClr val="00A88F"/>
            </a:solidFill>
          </c:spPr>
          <c:cat>
            <c:strRef>
              <c:f>'Chart Data'!$A$2:$A$4</c:f>
              <c:strCache>
                <c:ptCount val="3"/>
                <c:pt idx="0">
                  <c:v>결정론 core</c:v>
                </c:pt>
                <c:pt idx="1">
                  <c:v>최종 HCX endpoint</c:v>
                </c:pt>
                <c:pt idx="2">
                  <c:v>봉인 holdout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625</c:v>
                </c:pt>
                <c:pt idx="1">
                  <c:v>11351.361</c:v>
                </c:pt>
                <c:pt idx="2">
                  <c:v>31610.704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latin typeface="Apple SD Gothic Neo"/>
                  <a:ea typeface="Apple SD Gothic Neo"/>
                  <a:cs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9FC"/>
        </a:solidFill>
        <a:ln xmlns:a="http://schemas.openxmlformats.org/drawingml/2006/main" w="9525">
          <a:solidFill>
            <a:srgbClr val="E8EEF4"/>
          </a:solidFill>
        </a:ln>
      </c:spPr>
    </c:plotArea>
    <c:plotVisOnly val="1"/>
  </c:chart>
  <c:spPr>
    <a:solidFill xmlns:a="http://schemas.openxmlformats.org/drawingml/2006/main">
      <a:srgbClr val="F7F9FC"/>
    </a:solidFill>
    <a:ln xmlns:a="http://schemas.openxmlformats.org/drawingml/2006/main" w="0">
      <a:solidFill>
        <a:srgbClr val="F7F9FC"/>
      </a:solidFill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8A93AE-CA1E-413A-89AC-848C3D1F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9EA291-49C9-46F9-9DB4-9B6E748C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16285F-9286-4D5A-8E17-1DB99012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8858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금융상품 답변을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검증 가능한 사실로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D141E-4D98-4D64-B0BD-D26442B45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885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rPr>
              <a:t>질문은 HCX가 해석하고, 수치는 코드가 계산하며, 근거가 답변을 통과시킵니다.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9D7A1A-46F0-4AAC-B40D-358E308B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6324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45DC18-9090-4040-88B4-E85CDE88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05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2026 미래에셋증권 AI Festival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6CFD34-C411-4FCF-A788-034E94EA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9FB4C8"/>
                </a:solidFill>
                <a:latin typeface="Apple SD Gothic Neo"/>
                <a:ea typeface="Apple SD Gothic Neo"/>
                <a:cs typeface="Apple SD Gothic Neo"/>
              </a:rPr>
              <a:t>제안자 곽태성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82B567-2CBA-410B-95B9-485EEA1F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FB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9FB4C8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893711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311DD9-BA85-46C8-8398-8A3A6DAB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BAAC59-77D5-4C6C-B13E-34E9E194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문제 정의와 평가 전략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608B54-42A4-424B-A452-F36D4F426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EEF95-9AD4-4141-AE7B-869925F1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447AB-F1D7-4707-955D-C734D4FC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619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금융상품 질의는 자연어 해석, 이질적인 상품 스키마, 기간과 통화 비교, 결측과 상태 규칙을 동시에 다룹니다. 한 단계라도 흔들리면 그럴듯한 오답이 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692B6-3AAA-4B80-A248-4D57E71B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7500"/>
            <a:ext cx="619125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BAABDC-6FCC-4125-9EBE-25EADB0E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7500"/>
            <a:ext cx="762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4AC3D7-6E13-445A-8EF0-AA293319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9900"/>
            <a:ext cx="579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설계 기준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7B6880-BE63-4D63-9D51-869A0517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정확한 검색 결과와 수치만 답변에 남기고, 근거가 부족하면 확인 불가로 종료합니다.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1362DB-95C4-4941-9F1A-6B35DFDD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62450"/>
            <a:ext cx="619125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A5DE2-CFEA-4953-A7D6-5ADD46F3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62450"/>
            <a:ext cx="762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6550C9-9956-44AA-9057-F1F18505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14850"/>
            <a:ext cx="579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제출 전략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DC16DF-C025-4A55-AC63-3E504711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소스 20점은 재현성과 계약으로, 제안서 40점은 구조와 검증 근거로, API 40점은 정확도와 지연으로 대응합니다.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448550" y="1504950"/>
          <a:ext xmlns:a="http://schemas.openxmlformats.org/drawingml/2006/main" cx="3905250" cy="3390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3e8ab8ef0e4bed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22871F-E6FB-46A6-AB5E-F3059FDD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577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배점 기준 100점</a:t>
            </a:r>
          </a:p>
        </p:txBody>
      </p:sp>
    </p:spTree>
    <p:extLst>
      <p:ext uri="{BB962C8B-B14F-4D97-AF65-F5344CB8AC3E}">
        <p14:creationId xmlns:p14="http://schemas.microsoft.com/office/powerpoint/2010/main" val="14411316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F13518-014C-4EA4-8095-D7E51575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F95963-F214-4019-B8CF-7C34BF53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최신 공식 데이터와 Source Fidelity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6E8BE0-C95E-4C85-B73F-88A927E1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A769AD-F927-4055-B5C5-826697D3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86595F-1F4A-40D6-B7A9-3E3120AA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53,375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4FC833-A813-4055-A9E4-5F64D57E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감사된 원천 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28119C-65DE-48BE-91A3-D7CA2016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5621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D2297C-4E44-4A0E-ACAA-30F9A4CC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145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정규화 테이블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246B19-FA2C-479A-B5B0-8C6EE2E0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5621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0F80EB-AEC7-46EE-9FE5-D409A884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1145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공식 원천 파일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8CBB51-54A6-4622-AD08-079FCB3A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383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542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2026-08-24 배포본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B9D873-41E7-4917-A98E-ABE30630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95500"/>
            <a:ext cx="3886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국내·펀드 08.22, 해외 08.23 KST까지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E16E78-C8DE-4A31-A07E-39D1E908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5FB695-A9F9-46C9-A076-F041497C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49530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297621-1C7C-43A7-9703-E44BB527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76200" cy="1371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774AE9-0377-4EDB-920C-8AF90DD6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4552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값을 바꾸지 않는 정제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5C5F5B-6B01-485F-B621-18C16E11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455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원천 위치, 원시값, 정규화값, 변환 규칙 버전, 품질 상태, 적용일을 함께 보존합니다.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DFFFBD-4D68-48A6-9A68-A3B55FA5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143250"/>
            <a:ext cx="51816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4DDF84-66D7-40A4-BA2E-3527956F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143250"/>
            <a:ext cx="76200" cy="1371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7A7666-815F-4EDD-BBF0-AC518448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95650"/>
            <a:ext cx="4781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0과 결측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5BA5BD-8A08-4379-940A-9BCBD4AA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38550"/>
            <a:ext cx="4781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전역 치환을 금지합니다. 지표별 표시·필터·순위·집계 정책이 값의 사용 가능성을 결정합니다.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D2A8FB-983A-4565-9A64-C64C0F7A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4394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0A0A76-8405-4749-8E54-649E4B31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762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  <a:ln xmlns:a="http://schemas.openxmlformats.org/drawingml/2006/main" w="9525">
            <a:solidFill>
              <a:srgbClr val="F3A712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B190AA-924D-4748-87B3-CE215225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0039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구성종목 범위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556AC2-38C8-4FB5-87B1-3C63D620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1003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근거 없는 편입종목을 만들지 않습니다. 공식 artifact에는 31,492건을 unavailable로 명시했습니다.</a:t>
            </a:r>
          </a:p>
        </p:txBody>
      </p:sp>
    </p:spTree>
    <p:extLst>
      <p:ext uri="{BB962C8B-B14F-4D97-AF65-F5344CB8AC3E}">
        <p14:creationId xmlns:p14="http://schemas.microsoft.com/office/powerpoint/2010/main" val="18889245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895DEA-CB1E-4549-AFA1-43F7AEDA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046C05-CB4E-4799-BA39-91458338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전체 아키텍처와 신뢰 경계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C878B9-F563-430C-8DE1-370808EF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32264-7BFE-4368-B4E2-8493DD263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8E85D4-859D-4489-BCDF-AA387531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CFD1-F25E-4229-A0C1-9D5E9D11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D9ABF9-0099-403C-8FBA-7A4800D0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1E9832-9136-4BC2-97C4-9FB8EFE7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GET /answer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FAFB9-BE9B-47C3-AB01-D669DA6B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FDB66D-7A88-463A-94A5-4481F3AE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BF80FD-5C93-4C82-96BA-1D2A966D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HCX 계획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5032FA-EBE2-4077-85A4-BF406701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구조화 출력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5BCB32-BE30-4115-9319-6F22389D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26CCA2-730A-4C2A-8EB1-7B0389A6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AED96B-46BB-4122-99EE-18509C7B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309C87-AAD8-433E-83F4-16721516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allowlist + grain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772B49-31D4-482A-B3B4-C154CA43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DE5D42-2002-4F14-9467-1EFF1222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40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20A169-69D8-4BA4-B414-5FA422E1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결정론 실행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56E09A-AE8A-40ED-A463-F6AF40D2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SQL·정책·근거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E9C7E9-3ED8-44F3-B149-7C4FB2B6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62926B-97A6-40D6-9B0E-A00235B1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1841E6-9EA1-4619-BCD5-9B50D6B2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답변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1EBBB8-8B72-4997-AB14-33444C36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claim 검증</a:t>
            </a:r>
          </a:p>
        </p:txBody>
      </p:sp>
      <p:cxnSp>
        <p:nvCxnSpPr>
          <p:cNvPr id="61" name=""/>
          <p:cNvCxnSpPr>
            <a:stCxn xmlns:a="http://schemas.openxmlformats.org/drawingml/2006/main" id="5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41935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68630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695325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cxnSp>
        <p:nvCxnSpPr>
          <p:cNvPr id="64" name=""/>
          <p:cNvCxnSpPr>
            <a:stCxn xmlns:a="http://schemas.openxmlformats.org/drawingml/2006/main" id="1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922020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AAC750-B5BC-4547-BEA5-B7EF0CACF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48387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570BFD-78C5-4562-965A-3565BAD9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762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C548F7-F65B-48B1-911B-B1D2B9B1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언어 모델 경계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C06E34-A17C-48B1-B4FE-6E7F23CB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4438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HCX-007은 intent 계획과 검증된 FactPack의 제한된 문장화만 담당합니다.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4AC25D-6594-4DFD-A56B-1BA55C0E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095750"/>
            <a:ext cx="52959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932C44-8546-4583-9DB8-CBA3A019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095750"/>
            <a:ext cx="762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C68BC2-5C00-41BA-BAE6-17BE168A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248150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코드 경계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9B2467-BDA9-4F44-AE20-88A342C8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591050"/>
            <a:ext cx="4895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검색, 필터, 순위, 집계, 계산, 근거 구성과 최종 claim 검증은 파라미터화된 코드가 담당합니다.</a:t>
            </a:r>
          </a:p>
        </p:txBody>
      </p:sp>
    </p:spTree>
    <p:extLst>
      <p:ext uri="{BB962C8B-B14F-4D97-AF65-F5344CB8AC3E}">
        <p14:creationId xmlns:p14="http://schemas.microsoft.com/office/powerpoint/2010/main" val="4206977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3D5BE6-3AC2-4BCF-948D-2C8A562D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0AD09F-2BB7-4A92-86D6-C4AF5361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적재·정규화·격리·불변 데이터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6B8FFB-099E-4089-B488-C4D2BD8F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9CDE3E-9AFE-4201-8290-4B22F6A5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D70F2-DACB-4FD5-8914-3E86743E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12E15A-BD18-48E0-872F-23661845E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21371-DEC3-4B6C-91DB-B3C0C5CE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원천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3175F8-D4F5-47A5-9FB4-DB78EA45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파일 checksum과 스키마를 먼저 고정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30FA7F-948A-4363-86E8-CA1A6A20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23AFE1-A7A8-4DE2-BB97-458DF869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526150-912F-4EC5-896A-8F750D8B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타입 정규화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B39999-B202-4EA5-90FE-53DE03D6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Decimal, date, 품질 상태를 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928EA1-CFC7-4C80-8982-C5B1D288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8892E0-1B22-4B75-8DC1-2DC0E45E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2CAC61-DDFF-4A40-87E0-9BC69CC4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격리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918BCA-98B8-484A-AAA0-48767EF1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잘못된 행은 삭제하지 않고 quarantine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9F71AD-E646-4A0C-B11B-AF427B77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3EEE70-4AEC-4D7A-B2A6-B1BB0869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B9C31D-39DB-41E9-A7C4-CA3EF7D5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artifact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DFE624-A1EA-4B7D-88C6-B4756509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Parquet + DuckDB를 논리 hash로 봉인</a:t>
            </a:r>
          </a:p>
        </p:txBody>
      </p:sp>
      <p:cxnSp>
        <p:nvCxnSpPr>
          <p:cNvPr id="56" name=""/>
          <p:cNvCxnSpPr>
            <a:stCxn xmlns:a="http://schemas.openxmlformats.org/drawingml/2006/main" id="5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990850" y="22479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7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695950" y="22479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8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8401050" y="22479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6DBC5E-F49C-4169-9D40-4B702539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원시값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DE8EDC-D5DF-4C00-B8F3-22217916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파일·시트·행·열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938F72-49F1-44FD-9655-36965A34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정규화값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61C708-BC12-46CA-B3A6-74B89759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862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변환 규칙 버전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296464-BAA6-49E7-AEF7-420E76FB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24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품질 판단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05067D-BD28-4795-8272-80C674EA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862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valid·missing·quarantined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CF8B5F-58B6-45C1-942F-7C106337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재현성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9942D2-C7BF-475D-8D81-16CB4830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8620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logical SHA-256 977b3409…a9a8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D9A86E-64A1-4567-BA16-DFA5DB71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10515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03CCC3-C3FC-48C1-9177-E8A45654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762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B14F90-80CE-437A-8F9D-B24F14C0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14900"/>
            <a:ext cx="1011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불변 원칙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4D2E73-2C58-4EA5-A61C-BAF8434A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57800"/>
            <a:ext cx="1011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원천 파일은 읽기 전용이며 변환 결과가 달라지면 build가 실패합니다.</a:t>
            </a:r>
          </a:p>
        </p:txBody>
      </p:sp>
    </p:spTree>
    <p:extLst>
      <p:ext uri="{BB962C8B-B14F-4D97-AF65-F5344CB8AC3E}">
        <p14:creationId xmlns:p14="http://schemas.microsoft.com/office/powerpoint/2010/main" val="13766605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4BA332-3079-467A-82DC-9B8CA734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057A33-386C-41F9-B06F-72E189C4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도메인 온톨로지와 다섯 Turtle 파일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8CDF2A-19EE-4131-9E65-E11DB76A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3D7EE2-F805-418B-8B9B-A35ACFDD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C7A7E9-6A4D-48E6-82E6-E9E8199D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38300"/>
            <a:ext cx="2476500" cy="704850"/>
          </a:xfrm>
          <a:prstGeom xmlns:a="http://schemas.openxmlformats.org/drawingml/2006/main" prst="roundRect">
            <a:avLst>
              <a:gd name="adj" fmla="val 21622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93A5E-3E09-4E6E-8D04-8AB263EA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62125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fp:Product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BE0E0D-3F7A-4BF1-AB49-ECE75A52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A9C14-EA4A-46CE-B4D4-54855C0A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국내채권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98CA1E-85C2-414E-9EB8-3EFC66F3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instrument</a:t>
            </a:r>
          </a:p>
        </p:txBody>
      </p:sp>
      <p:cxnSp>
        <p:nvCxnSpPr>
          <p:cNvPr id="37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1857375" y="2343150"/>
            <a:ext cx="423862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D6CDF"/>
            </a:solidFill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CB4BC7-D62C-48AB-8089-A4E5F33D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EA9C95-8543-4814-8F5F-846927C8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국내 ETF·ETN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93110E-4EDC-4107-A88A-BBF39843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cxnSp>
        <p:nvCxnSpPr>
          <p:cNvPr id="41" name=""/>
          <p:cNvCxnSpPr>
            <a:stCxn xmlns:a="http://schemas.openxmlformats.org/drawingml/2006/main" id="5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4562475" y="2343150"/>
            <a:ext cx="153352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00A88F"/>
            </a:solidFill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FA093D-BA3E-4B50-A369-7ACF48FA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50E6D0-8B47-4FDE-9AC6-81F70749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해외 ETF·ETN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47B21E-AE93-4F8B-B77A-B26728DD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cxnSp>
        <p:nvCxnSpPr>
          <p:cNvPr id="45" name=""/>
          <p:cNvCxnSpPr>
            <a:stCxn xmlns:a="http://schemas.openxmlformats.org/drawingml/2006/main" id="5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6096000" y="2343150"/>
            <a:ext cx="11715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62B5E5"/>
            </a:solidFill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06B7F6-8EA4-494E-98D5-94DEADDE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F9B6F7-A279-4775-B9AD-83792639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공모펀드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228084-20C9-4F0F-9E10-E50ED234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fund_item / itm_no</a:t>
            </a:r>
          </a:p>
        </p:txBody>
      </p:sp>
      <p:cxnSp>
        <p:nvCxnSpPr>
          <p:cNvPr id="49" name=""/>
          <p:cNvCxnSpPr>
            <a:stCxn xmlns:a="http://schemas.openxmlformats.org/drawingml/2006/main" id="5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6096000" y="2343150"/>
            <a:ext cx="38766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F3A712"/>
            </a:solidFill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C2EBC1-6A4B-48A4-BFE2-591BD4D9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049655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3B1C96-69AC-45B2-94D7-CE9D3A5C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762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7A15EA-C96E-4577-A76D-71091B9E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7205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공통 근거 모델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123BB7-F772-4609-8668-C6A7815B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149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481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source table·file·sheet·row·column, raw/normalized value, quality status, applicable date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F24AB7-39A3-452F-9C42-81D80A8D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864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common.ttl   bond_kr.ttl   etf_kr.ttl   etf_gl.ttl   fund_pub.ttl</a:t>
            </a:r>
          </a:p>
        </p:txBody>
      </p:sp>
    </p:spTree>
    <p:extLst>
      <p:ext uri="{BB962C8B-B14F-4D97-AF65-F5344CB8AC3E}">
        <p14:creationId xmlns:p14="http://schemas.microsoft.com/office/powerpoint/2010/main" val="6244745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BA773C-07A0-4A46-B8AB-8E6B9D0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D3E89-EBE3-4AE0-AB2E-BE6B1B8A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HCX intent 계획과 QueryPlan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07124-CD9E-4BF7-9B0D-A93439C8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B8487B-FD61-407C-8D6C-3010F01A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0B5A3F-99D3-40D2-9AFC-C10D9402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HCX-007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071152-812B-40A0-A7C8-0E22F6918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자연어를 제한된 구조로 해석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629FA-1627-4DE7-9F1A-9F906A4D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6192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DD106C-6F27-4336-B744-89A8EBA5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질문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2A6BA9-9480-431E-A8FB-ACD1D07A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526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untrusted 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3BEC3-02FF-4154-8D8C-325156D3A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241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F8DA01-B140-4F0A-A769-BA2D46E2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575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Structured 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2D5146-4A4D-4BAB-9E24-8E9CB182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575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QueryPlan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001046-B0C1-4DD3-9937-2C3BA408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8290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D3C49C-A9E0-4DB3-9BC8-4BA8D05F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624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로컬 의미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1BC9D4-C475-4D02-99B8-2A85A47C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624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field·metric·operator allowlist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7961D7-6523-42E3-9EB2-9A9F6900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9339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E8F7F4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C862AA-8384-4781-933B-57F98C95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67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ExecutionBundle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FAF76-D946-4DEE-9F49-4DBECF6B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673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상품별 native segment</a:t>
            </a:r>
          </a:p>
        </p:txBody>
      </p:sp>
      <p:cxnSp>
        <p:nvCxnSpPr>
          <p:cNvPr id="44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7200900" y="24003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5" name=""/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7200900" y="35052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6" name=""/>
          <p:cNvCxnSpPr>
            <a:stCxn xmlns:a="http://schemas.openxmlformats.org/drawingml/2006/main" id="13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7200900" y="46101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9FC236-5DBF-4626-8B92-73E87186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72415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33C8B9-2801-463D-AD8D-C1931E42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76200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A158CB-4044-4E86-BBED-45CF2627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fail closed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4DEE52-E97A-45DB-A06D-0CC096B8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324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파싱·의미·entity가 불확실하면 clarify 또는 unsupported로 종료합니다.</a:t>
            </a:r>
          </a:p>
        </p:txBody>
      </p:sp>
    </p:spTree>
    <p:extLst>
      <p:ext uri="{BB962C8B-B14F-4D97-AF65-F5344CB8AC3E}">
        <p14:creationId xmlns:p14="http://schemas.microsoft.com/office/powerpoint/2010/main" val="12495862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0E2644-2B67-47E5-8B88-A4DD6E70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E79A8-62FA-470C-A9FF-EE80953B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상품별 native grain과 비교 가능성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C297D8-AC32-49AB-B63E-FFA07B8E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ACEC9B-6ECE-4B3A-A9D0-E569FFB4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EEBCCF-61A4-4921-8361-EF4865A7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교차상품 질의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72E52C-D135-469B-B6C9-243EA132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574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하나의 union SQL로 합치지 않습니다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F3DF11-666D-414D-9820-97B0F713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240030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6BF875-136F-4FAD-91DC-83E829D87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337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695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product envelope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A61E9C-3C13-4B4C-B98B-7B358ECC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rPr>
              <a:t>질의 조건을 상품군별로 분해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92B023-F805-4E29-9308-DD70500B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135AAE-75A7-4873-A4A7-96A685B4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7335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채권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EE4F97-59C3-4B4D-93B2-D013D68F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733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instrument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08F161-AF26-434E-B69E-1FF1E1DD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335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만기·등급·매수수익률</a:t>
            </a:r>
          </a:p>
        </p:txBody>
      </p:sp>
      <p:cxnSp>
        <p:nvCxnSpPr>
          <p:cNvPr id="44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3048000" y="2038350"/>
            <a:ext cx="857250" cy="1514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D6CDF"/>
            </a:solidFill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B0F435-E256-4DF8-842D-073F3F2C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73246A-BC48-4ECC-A052-AFB2429C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914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국내 상장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14B039-930E-4F4C-B8C4-C8B85424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9146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AFE0F9-4C41-4D0C-987B-05E1F650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146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1M·3M·6M·1Y·YTD</a:t>
            </a:r>
          </a:p>
        </p:txBody>
      </p:sp>
      <p:cxnSp>
        <p:nvCxnSpPr>
          <p:cNvPr id="49" name=""/>
          <p:cNvCxnSpPr>
            <a:stCxn xmlns:a="http://schemas.openxmlformats.org/drawingml/2006/main" id="7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3048000" y="3219450"/>
            <a:ext cx="857250" cy="3333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0A88F"/>
            </a:solidFill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1EC37C-2FC8-4F00-9866-267811F2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624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B11F47-0DF1-4B72-9B69-8494A8E9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95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해외 상장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967EA8-2999-4FD0-BBD8-85BD7D8B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9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F4A848-E83E-4E07-85A5-3E91650D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1D만 제공</a:t>
            </a:r>
          </a:p>
        </p:txBody>
      </p:sp>
      <p:cxnSp>
        <p:nvCxnSpPr>
          <p:cNvPr id="54" name=""/>
          <p:cNvCxnSpPr>
            <a:stCxn xmlns:a="http://schemas.openxmlformats.org/drawingml/2006/main" id="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3048000" y="3552825"/>
            <a:ext cx="857250" cy="8477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62B5E5"/>
            </a:solidFill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3D84E1-31D1-454B-A3DF-3294562F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435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15A879-5AE4-44AC-919E-912A1B9D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276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공모펀드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970AFB-7CC3-4E1F-A62E-48D27E1D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276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fund_item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3DC469-EB56-4A5A-B7B7-1F1C11EA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768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itm_no 기준</a:t>
            </a:r>
          </a:p>
        </p:txBody>
      </p:sp>
      <p:cxnSp>
        <p:nvCxnSpPr>
          <p:cNvPr id="59" name=""/>
          <p:cNvCxnSpPr>
            <a:stCxn xmlns:a="http://schemas.openxmlformats.org/drawingml/2006/main" id="7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3048000" y="3552825"/>
            <a:ext cx="857250" cy="20288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3A712"/>
            </a:solidFill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195594-25F4-43B9-BB16-4CC1530C0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2686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global top-k는 지표·단위·기간·통화·상태 정책이 모두 같을 때만 허용</a:t>
            </a:r>
          </a:p>
        </p:txBody>
      </p:sp>
    </p:spTree>
    <p:extLst>
      <p:ext uri="{BB962C8B-B14F-4D97-AF65-F5344CB8AC3E}">
        <p14:creationId xmlns:p14="http://schemas.microsoft.com/office/powerpoint/2010/main" val="3515041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961728-9553-4B2D-9865-F9D4B8C2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0F5A78-CAB2-49D1-8C2D-9DB9B949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근거 구성과 claim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CB4EEF-ED68-4934-9903-A803D64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035D79-F439-444A-9800-5D469172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314B31-842F-455B-9FDC-4C021584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B61F6B-AFE1-4221-B4A3-95EB7039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검색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E5199D-367E-473E-B18A-32F7F617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native row + 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AF608-C7FA-49B7-A56E-F7D8EF89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B163D8-AFC8-4D2D-84C2-4C35A131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EvidenceRecord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F94E09-5D8E-4545-9187-EFBD154E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원천 위치와 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7A8603-0B8E-4A6B-89F7-FCBC734B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7C0EFB-80A2-4814-99D4-838492EE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FactPack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A2BAD4-8E9A-4D9E-9CB4-B501814C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표현 가능한 사실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D0E99E-D95F-45B8-9C96-44F44E2E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BF78FA-9E5D-4DB3-96F0-85C8B49F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ClaimVerifier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493D20-00E2-4293-8FA4-22743A74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문장별 근거 검사</a:t>
            </a:r>
          </a:p>
        </p:txBody>
      </p:sp>
      <p:cxnSp>
        <p:nvCxnSpPr>
          <p:cNvPr id="45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91465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6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60070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7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28675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C31BC7-9FE0-46E0-8B92-E3EE46FE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95700"/>
            <a:ext cx="50673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5C7348-A9D9-4E51-9D41-0737E660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957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EE7BEF-CB32-431F-ACA7-47821A5A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481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통과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9AC6A7-F3F6-4293-8BAA-4A77AD95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91000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수치, 비교, 순위, 개수, 제외 사유와 중요 경고가 근거에 연결되면 답변을 게시합니다.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7BA765-515A-42DF-ABA6-9A5F69F7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95700"/>
            <a:ext cx="50101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3EFDA3-F63F-4CDA-85D6-3BBC17A4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957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9A5513-7F0A-4C07-A2B5-6A24F76C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차단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DE9CB8-6FF3-48C4-93AE-76367E40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46101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근거가 없거나 문장화가 FactPack을 벗어나면 결정론 문장 또는 확인 불가 응답으로 종료합니다.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78A898-F298-444A-ADE7-2FD012F2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0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think_trace는 숨은 추론이 아니라 재현 가능한 실행 단계입니다</a:t>
            </a:r>
          </a:p>
        </p:txBody>
      </p:sp>
    </p:spTree>
    <p:extLst>
      <p:ext uri="{BB962C8B-B14F-4D97-AF65-F5344CB8AC3E}">
        <p14:creationId xmlns:p14="http://schemas.microsoft.com/office/powerpoint/2010/main" val="3946415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666B12-1043-48FA-83E0-EACDBFDE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54602-4CB1-455F-B5CF-4F44DE20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대표 사용자 시나리오와 API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E6C695-A2E0-490B-B9EA-148B28EE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5A1DD7-BC37-4AD9-B6D9-8D36CE78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217C75-2DC8-44B0-BA53-0553FCD1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“삼성전자를 보유한 국내 ETF와 공모펀드를 1년 수익률 기준으로 비교해줘”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1131CB-02A1-4DAF-A7EF-D891E2D2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69569D-5ADB-4757-B4B0-C22CC81A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0D9DCF-70DC-4F61-9463-8A435196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상품군 분해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594927-2A0A-4DE5-980A-1F558DB9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국내 ETF / 공모펀드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1B4453-9AFF-4A35-ADCC-86369DDC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46B968-033B-45E0-B452-E7AD9AEE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40940A-3729-4648-9D4E-E9C1686B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보유 근거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A2DA3F-67B3-4FDB-B45B-6B77B42F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coverage unavailable이면 제한 명시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877F3E-8A83-410C-8343-C754967A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785F8B-E2B1-4C8D-A123-9F805BF2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2B5E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BA8449-CCA9-4CA4-8A22-D6A74274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기간 정합성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6CA31C-FDFB-4BDD-8F73-826215EF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두 상품군의 1Y 지표만 비교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4ED0C1-98CE-48AA-BAF1-60E506A7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1C55ED-8928-4AFE-8E19-CEAB1169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36DF02-1D3C-4983-87A2-DABE4C88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결과 게시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AEFF0B-D3D7-4649-A5DE-16D9D3EA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5개 string 필드</a:t>
            </a:r>
          </a:p>
        </p:txBody>
      </p:sp>
      <p:cxnSp>
        <p:nvCxnSpPr>
          <p:cNvPr id="4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99085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0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69595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1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40105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DCE97C-8645-4CC6-B751-8BF4D142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481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GET /answer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04B050-1D4C-49AC-8183-91270475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86300"/>
            <a:ext cx="104584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E8F7F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question_id · question · retrieved_context · think_trace · answer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B993CA-0396-4D71-9FD9-360F20AB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29250"/>
            <a:ext cx="1045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해외 ETF의 1년 수익률은 제공되지 않으므로 같은 질의에 자동 혼합하지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3201757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7E2190-1B5E-4675-8CB1-BFE89BDF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F06E7-2FC8-49C9-ABFB-E68FB022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144 + 48 블라인드 평가 프로토콜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99DC14-0D8F-42E8-8884-1D922622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786AE-ACA0-4EDF-B64C-FCFA1F8B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839962-5347-4CA1-9AB3-D330247B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4572000" cy="268605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C9B95-F58F-4720-9A88-31DDBF5D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개발 144건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B5A9A7-8D26-4F32-8297-A676A9D4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2415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교차상품·구성종목·결측/0·답변불가·오타/동의어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D5FBBE-EC68-42A2-BEFE-8F5CBA14F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385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reviewed plan + expected answer</a:t>
            </a:r>
          </a:p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수정 과정에서 열람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4A9B5-C2E2-4A5D-BB63-DC2D1679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4572000" cy="268605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A2AC53-3C3C-40EE-AEAC-5EDCC1B3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5740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봉인 holdout 48건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B6CDAD-F161-4401-A07D-D8A68222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2415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5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D8E5EF"/>
                </a:solidFill>
                <a:latin typeface="Apple SD Gothic Neo"/>
                <a:ea typeface="Apple SD Gothic Neo"/>
                <a:cs typeface="Apple SD Gothic Neo"/>
              </a:rPr>
              <a:t>질문·정답·case 결과는 private NCP curator에만 보관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712FA8-D023-4ECE-AD74-4EB178C0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385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rPr>
              <a:t>freeze attestation 선행</a:t>
            </a:r>
          </a:p>
          <a:p xmlns:a="http://schemas.openxmlformats.org/drawingml/2006/main">
            <a:pPr algn="l">
              <a:defRPr sz="135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rPr>
              <a:t>root에는 aggregate summary만 반환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43E195-7176-49B4-B4A1-47A7D972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100965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1F44AE-BDF6-442E-941D-B0B84D62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762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979442-F3B5-49B1-9B11-E5BBDA12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0"/>
            <a:ext cx="969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누출 방지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4727AB-89C2-4C04-97D1-0E4570EC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candidate commit·image·artifact·config·prompt·model·suite checksum을 공개 전에 고정했습니다.</a:t>
            </a:r>
          </a:p>
        </p:txBody>
      </p:sp>
    </p:spTree>
    <p:extLst>
      <p:ext uri="{BB962C8B-B14F-4D97-AF65-F5344CB8AC3E}">
        <p14:creationId xmlns:p14="http://schemas.microsoft.com/office/powerpoint/2010/main" val="453528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E050E-CABB-4273-B99C-62C43237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041EF6-8B48-4828-91F6-B5474905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정확도 결과와 현재 한계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F517BF-F2A1-42F7-BF07-72DB5EC8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00506C-B488-4D1F-973A-E5D025E5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B694C-C473-4609-B8EC-DB918E90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668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결정론 기준 144/144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7905D8-216C-44EA-B6F7-5520AD0A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reviewed plan 재생에서 13개 집계 축 모두 1.0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09600" y="2495550"/>
          <a:ext xmlns:a="http://schemas.openxmlformats.org/drawingml/2006/main" cx="581025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97f94b4aef432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147223-58C9-4B91-ABAD-F4015CA4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46685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봉인 holdout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4DBE8A-D416-40FA-8AD4-25C5F45C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24050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25/48 성공</a:t>
            </a:r>
          </a:p>
          <a:p xmlns:a="http://schemas.openxmlformats.org/drawingml/2006/main">
            <a:pPr algn="l">
              <a:defRPr sz="25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23/48 safe failure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0A4623-496C-4CA6-87B9-DDD6526F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527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6723BF-3C2B-439A-B3C3-E9D4B6BA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385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A-E 오류 건수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B0FD36-12E1-4B4A-ABF1-B56F4435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766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A 25   B 10   C 14   D 16   E 15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B58F83-C72F-497F-AB59-A3E5CD1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67200"/>
            <a:ext cx="41910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E 결과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Product F1 53.31%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Order 32.28%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Numeric 43.48%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Evidence 21.87%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Limitation 57.14%</a:t>
            </a:r>
          </a:p>
        </p:txBody>
      </p:sp>
    </p:spTree>
    <p:extLst>
      <p:ext uri="{BB962C8B-B14F-4D97-AF65-F5344CB8AC3E}">
        <p14:creationId xmlns:p14="http://schemas.microsoft.com/office/powerpoint/2010/main" val="14979599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D30AC6-85CB-4912-82A8-3F8074AD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657140-90FA-47DC-B92E-E4DA6142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지연·부하·안정성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18D73F-32C1-4610-84C8-604A9F75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A04303-E2E1-4CC5-A4E8-8CEF6EA8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71500" y="1524000"/>
          <a:ext xmlns:a="http://schemas.openxmlformats.org/drawingml/2006/main" cx="66675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4c6d585dbd446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E7E86-3115-44FB-B815-355138CA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p95 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74732D-C584-43A3-B741-C984986B5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81150"/>
            <a:ext cx="33337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43FB3-BB93-4D89-8AB1-B072DDAF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811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6D3D4C-2B69-4096-98EC-C882BBD9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3355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최종 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4F0618-0A0B-4468-BDF1-F387583E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293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35/35 성공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평균 7,347.939 ms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p95 11,351.361 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5BB173-F277-4830-9AE9-F3A1357F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276600"/>
            <a:ext cx="33337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2BE293-26A6-4F4D-B710-686EBB46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2766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BDDF89-A217-437D-8097-62092217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42900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bounded soak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126B93-DA90-4BCD-9211-48C066DD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71900"/>
            <a:ext cx="293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20 cycles · 80 observations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517.063초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failure 0 · drift 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E45B67-5F87-48A5-8187-3F67C791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420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세 측정은 workload가 달라 직접 성능 비교에 사용하지 않습니다. 24시간 soak를 주장하지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8297914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F063AB-254D-4829-A088-4F7B7DC5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36B78-21DA-4E2C-9D33-5DB95B017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현업 적용 지점과 상품군 확장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59441-3922-4151-9778-0B1F79E5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FAC4F-D6E0-4717-A133-3FCDE445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DBF52A-3313-4CEA-B441-58034A11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01015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D3CF9E-5177-4CFE-912A-7DC1BBC9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6200" cy="1123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26826-077C-4B3B-ADC9-8D3298B4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1450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상담 지원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6FCF04-3D9B-4A87-9645-5B9229311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4610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답변과 근거 위치를 함께 제시해 검토 가능한 상품 비교를 지원합니다.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709FAE-3DC6-4EC8-9FB9-CE455D28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562100"/>
            <a:ext cx="501015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E2B46D-ABA5-4285-927A-CAB5E3A4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562100"/>
            <a:ext cx="76200" cy="1123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9F0544-0F99-4114-A8B6-D356F4A0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1450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운영 통제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BB8AD2-1107-457B-A470-0AF632D4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57400"/>
            <a:ext cx="4610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등록된 field·metric·state만 실행하고 unsupported 질의를 안전하게 종료합니다.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AA933-C594-4941-AD57-4BC27B3F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확장 단위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523B37-14F7-4BF4-84D6-7EBAB6C2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266950" cy="12001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4A07F3-5D68-4AA2-8919-33365DBF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새 상품군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D29219-41F0-4827-AD39-C72A9AA1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schema + grain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D5D5FE-1D1D-44C2-BC9F-66D3063D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790950"/>
            <a:ext cx="2266950" cy="12001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FE03B8-309A-4B01-BE29-9AB93810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9814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새 지표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C0B28B-A13D-4ADC-BAAB-701156CD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4767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metric registry + policy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869AA4-C852-4E2C-92AF-3C6BDA39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790950"/>
            <a:ext cx="2266950" cy="12001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53FD53-8DEF-47BD-8541-6E2C3E90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9814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새 근거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9B5A8B-DB6E-484F-88B0-0616E8A4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4767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source locator + quality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24BF67-50F4-498F-9628-5046D874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90950"/>
            <a:ext cx="2266950" cy="12001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059F3A-4A8C-42D6-93A5-B3865AB4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814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새 질의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2394B1-65C6-4782-8998-7F407C0E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4767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planner catalog + tests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3745CD-6A1D-49A3-8EA7-52E6BB2F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확장은 registry와 계약 테스트를 추가하는 방식이며 기존 원천값과 동작을 덮어쓰지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83000977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83E832-0C1B-4680-9A1F-3DC0BC51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307027-811F-4EE8-AD5C-40C44750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재현·API 계약·제출 한계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FCBB77-DB7E-459C-AF6A-09D0CC2E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BC3F2A-0FC1-4E21-B910-97C2BC63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5B945D-E5EB-4DC9-8503-E55CEB3F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재현 절차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81A382-A491-483E-A8F6-B76C91A5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762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  uv sync --frozen --all-groups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2  verify_handoff + audit_source_data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3  finproof build-data --clean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4  Docker build + release manifest verify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3AF12B-1527-48D3-AF87-9C7DBD1B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API 계약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9F929E-75A0-4889-9409-0600F8D8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762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GET /answer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question_id, question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응답은 정확히 5개 string 필드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평가 기간 09.07-09.20 상시 운영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AC4C2-8453-4FA0-AE83-EA0562A4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04950"/>
            <a:ext cx="4762500" cy="234315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4CAD82-17A7-48FA-8D7A-EDBC561D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04950"/>
            <a:ext cx="76200" cy="2343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A1BC06-99B2-418F-83E5-954BD1FF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57350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명시적 한계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0B69DE-AE94-43FE-9CD7-3F46610F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43624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봉인 holdout 23/48 safe failure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A-E 전 변형 nonzero error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구성종목 coverage unavailable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외부 실시간 값·전망·추천 미제공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soak 517.063초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343A03-7368-4510-A6D5-7A4E9F90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33850"/>
            <a:ext cx="47625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DDDA98-1522-4483-AF43-057CA812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33850"/>
            <a:ext cx="76200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324F"/>
          </a:solidFill>
          <a:ln xmlns:a="http://schemas.openxmlformats.org/drawingml/2006/main" w="9525">
            <a:solidFill>
              <a:srgbClr val="16324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C4B959-F08B-4BE7-BE26-D2885445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86250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2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6324F"/>
                </a:solidFill>
                <a:latin typeface="Apple SD Gothic Neo"/>
                <a:ea typeface="Apple SD Gothic Neo"/>
                <a:cs typeface="Apple SD Gothic Neo"/>
              </a:rPr>
              <a:t>제출 근거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1FF04A-034D-423C-9D1C-B108AD21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4362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PROPOSAL_EVIDENCE_INDEX.md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API_SCHEMA.md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SUBMISSION_CHECKLIST.md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release/manifest.json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1F71CF-C7A4-45D9-BD03-41E56DA0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340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제출 마감 2026-09-06 23:59 KST</a:t>
            </a:r>
          </a:p>
        </p:txBody>
      </p:sp>
    </p:spTree>
    <p:extLst>
      <p:ext uri="{BB962C8B-B14F-4D97-AF65-F5344CB8AC3E}">
        <p14:creationId xmlns:p14="http://schemas.microsoft.com/office/powerpoint/2010/main" val="20817612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2026-09-05T12:21:28.1230000Z</dcterms:created>
  <dcterms:modified xsi:type="dcterms:W3CDTF">2026-09-05T12:21:28.1230000Z</dcterms:modified>
</coreProperties>
</file>