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3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9e02e9e150d43e3" /><Relationship Type="http://schemas.openxmlformats.org/officeDocument/2006/relationships/extended-properties" Target="/docProps/app.xml" Id="Re6ce23dde6b44769" /><Relationship Type="http://schemas.openxmlformats.org/officeDocument/2006/relationships/officeDocument" Target="/ppt/presentation.xml" Id="Rfb875e88c96d429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18e659f2ceb43d3"/>
  </p:sldMasterIdLst>
  <p:notesMasterIdLst>
    <p:notesMasterId xmlns:r="http://schemas.openxmlformats.org/officeDocument/2006/relationships" r:id="Re204b45d5974498e"/>
  </p:notesMasterIdLst>
  <p:sldIdLst>
    <p:sldId xmlns:r="http://schemas.openxmlformats.org/officeDocument/2006/relationships" id="256" r:id="R769b14fd90cb4100"/>
    <p:sldId xmlns:r="http://schemas.openxmlformats.org/officeDocument/2006/relationships" id="257" r:id="R7e2d212d66b44d76"/>
    <p:sldId xmlns:r="http://schemas.openxmlformats.org/officeDocument/2006/relationships" id="258" r:id="R7242e8ea907a4491"/>
    <p:sldId xmlns:r="http://schemas.openxmlformats.org/officeDocument/2006/relationships" id="259" r:id="R420354bd57964ab5"/>
    <p:sldId xmlns:r="http://schemas.openxmlformats.org/officeDocument/2006/relationships" id="260" r:id="R2fe0ec344e7843e5"/>
    <p:sldId xmlns:r="http://schemas.openxmlformats.org/officeDocument/2006/relationships" id="261" r:id="R6b372244a2bd4df9"/>
    <p:sldId xmlns:r="http://schemas.openxmlformats.org/officeDocument/2006/relationships" id="262" r:id="Rb6ae030e4988470a"/>
    <p:sldId xmlns:r="http://schemas.openxmlformats.org/officeDocument/2006/relationships" id="263" r:id="R818fad78c1534302"/>
    <p:sldId xmlns:r="http://schemas.openxmlformats.org/officeDocument/2006/relationships" id="264" r:id="R8535143449e84651"/>
    <p:sldId xmlns:r="http://schemas.openxmlformats.org/officeDocument/2006/relationships" id="265" r:id="R744f3197bd254bc8"/>
    <p:sldId xmlns:r="http://schemas.openxmlformats.org/officeDocument/2006/relationships" id="266" r:id="Rc20c09a4a3b94dae"/>
    <p:sldId xmlns:r="http://schemas.openxmlformats.org/officeDocument/2006/relationships" id="267" r:id="Raf1eec31d6014c8f"/>
    <p:sldId xmlns:r="http://schemas.openxmlformats.org/officeDocument/2006/relationships" id="268" r:id="R1c8b137d8ea54f49"/>
    <p:sldId xmlns:r="http://schemas.openxmlformats.org/officeDocument/2006/relationships" id="269" r:id="R6f93871569334d75"/>
    <p:sldId xmlns:r="http://schemas.openxmlformats.org/officeDocument/2006/relationships" id="270" r:id="R9f94d0962ae3494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aeaee1565e040aa" /><Relationship Type="http://schemas.openxmlformats.org/officeDocument/2006/relationships/slideMaster" Target="/ppt/slideMasters/slideMaster1.xml" Id="R418e659f2ceb43d3" /><Relationship Type="http://schemas.openxmlformats.org/officeDocument/2006/relationships/notesMaster" Target="/ppt/notesMasters/notesMaster1.xml" Id="Re204b45d5974498e" /><Relationship Type="http://schemas.openxmlformats.org/officeDocument/2006/relationships/presProps" Target="/ppt/presProps.xml" Id="R96e363a189c94251" /><Relationship Type="http://schemas.openxmlformats.org/officeDocument/2006/relationships/tableStyles" Target="/ppt/tableStyles.xml" Id="R0ca5a833f60b416d" /><Relationship Type="http://schemas.openxmlformats.org/officeDocument/2006/relationships/slide" Target="/ppt/slides/slide1.xml" Id="R769b14fd90cb4100" /><Relationship Type="http://schemas.openxmlformats.org/officeDocument/2006/relationships/slide" Target="/ppt/slides/slide2.xml" Id="R7e2d212d66b44d76" /><Relationship Type="http://schemas.openxmlformats.org/officeDocument/2006/relationships/slide" Target="/ppt/slides/slide3.xml" Id="R7242e8ea907a4491" /><Relationship Type="http://schemas.openxmlformats.org/officeDocument/2006/relationships/slide" Target="/ppt/slides/slide4.xml" Id="R420354bd57964ab5" /><Relationship Type="http://schemas.openxmlformats.org/officeDocument/2006/relationships/slide" Target="/ppt/slides/slide5.xml" Id="R2fe0ec344e7843e5" /><Relationship Type="http://schemas.openxmlformats.org/officeDocument/2006/relationships/slide" Target="/ppt/slides/slide6.xml" Id="R6b372244a2bd4df9" /><Relationship Type="http://schemas.openxmlformats.org/officeDocument/2006/relationships/slide" Target="/ppt/slides/slide7.xml" Id="Rb6ae030e4988470a" /><Relationship Type="http://schemas.openxmlformats.org/officeDocument/2006/relationships/slide" Target="/ppt/slides/slide8.xml" Id="R818fad78c1534302" /><Relationship Type="http://schemas.openxmlformats.org/officeDocument/2006/relationships/slide" Target="/ppt/slides/slide9.xml" Id="R8535143449e84651" /><Relationship Type="http://schemas.openxmlformats.org/officeDocument/2006/relationships/slide" Target="/ppt/slides/slide10.xml" Id="R744f3197bd254bc8" /><Relationship Type="http://schemas.openxmlformats.org/officeDocument/2006/relationships/slide" Target="/ppt/slides/slide11.xml" Id="Rc20c09a4a3b94dae" /><Relationship Type="http://schemas.openxmlformats.org/officeDocument/2006/relationships/slide" Target="/ppt/slides/slide12.xml" Id="Raf1eec31d6014c8f" /><Relationship Type="http://schemas.openxmlformats.org/officeDocument/2006/relationships/slide" Target="/ppt/slides/slide13.xml" Id="R1c8b137d8ea54f49" /><Relationship Type="http://schemas.openxmlformats.org/officeDocument/2006/relationships/slide" Target="/ppt/slides/slide14.xml" Id="R6f93871569334d75" /><Relationship Type="http://schemas.openxmlformats.org/officeDocument/2006/relationships/slide" Target="/ppt/slides/slide15.xml" Id="R9f94d0962ae349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f5021fe4e2494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fec3b4d675741c8" /><Relationship Type="http://schemas.openxmlformats.org/officeDocument/2006/relationships/notesMaster" Target="/ppt/notesMasters/notesMaster1.xml" Id="R5a91d824b7c3463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e3422c9b07f4c51" /><Relationship Type="http://schemas.openxmlformats.org/officeDocument/2006/relationships/notesMaster" Target="/ppt/notesMasters/notesMaster1.xml" Id="R14b88433357141a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aac59135194426e" /><Relationship Type="http://schemas.openxmlformats.org/officeDocument/2006/relationships/notesMaster" Target="/ppt/notesMasters/notesMaster1.xml" Id="Ra1bfbed57d854f6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e12cfbe451e4a1a" /><Relationship Type="http://schemas.openxmlformats.org/officeDocument/2006/relationships/notesMaster" Target="/ppt/notesMasters/notesMaster1.xml" Id="R531783ae83474a3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099f1c34ac9498a" /><Relationship Type="http://schemas.openxmlformats.org/officeDocument/2006/relationships/notesMaster" Target="/ppt/notesMasters/notesMaster1.xml" Id="R6df3f6bce7454c8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4cf5340b4344665" /><Relationship Type="http://schemas.openxmlformats.org/officeDocument/2006/relationships/notesMaster" Target="/ppt/notesMasters/notesMaster1.xml" Id="R98a47c57c32f46e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bb8d7d59b84454d" /><Relationship Type="http://schemas.openxmlformats.org/officeDocument/2006/relationships/notesMaster" Target="/ppt/notesMasters/notesMaster1.xml" Id="R1d54b5506a664f7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fac5baf63fb47eb" /><Relationship Type="http://schemas.openxmlformats.org/officeDocument/2006/relationships/notesMaster" Target="/ppt/notesMasters/notesMaster1.xml" Id="Re2488f23ac37479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a39a2908ca644a3" /><Relationship Type="http://schemas.openxmlformats.org/officeDocument/2006/relationships/notesMaster" Target="/ppt/notesMasters/notesMaster1.xml" Id="Rae936cd7b7394e8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19a221c25df476e" /><Relationship Type="http://schemas.openxmlformats.org/officeDocument/2006/relationships/notesMaster" Target="/ppt/notesMasters/notesMaster1.xml" Id="Rd4ea2d032ef24b5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434610595474806" /><Relationship Type="http://schemas.openxmlformats.org/officeDocument/2006/relationships/notesMaster" Target="/ppt/notesMasters/notesMaster1.xml" Id="R5a92d0b7a70a4f9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0c3e5cfb93c4b73" /><Relationship Type="http://schemas.openxmlformats.org/officeDocument/2006/relationships/notesMaster" Target="/ppt/notesMasters/notesMaster1.xml" Id="R954127ab0d61497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aeac98239dc4d46" /><Relationship Type="http://schemas.openxmlformats.org/officeDocument/2006/relationships/notesMaster" Target="/ppt/notesMasters/notesMaster1.xml" Id="R07468acf3e9747d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d2d9f9b8ea74cd3" /><Relationship Type="http://schemas.openxmlformats.org/officeDocument/2006/relationships/notesMaster" Target="/ppt/notesMasters/notesMaster1.xml" Id="Ra39cd83b886249b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28ee88a4ae74dd3" /><Relationship Type="http://schemas.openxmlformats.org/officeDocument/2006/relationships/notesMaster" Target="/ppt/notesMasters/notesMaster1.xml" Id="Rfde41a05f418443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docs/submission/PROPOSAL_EVIDENCE_INDEX.md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source_material/competition_task_financial_product_agent.pdf 7쪽; docs/submission/PROPOSAL_EVIDENCE_INDEX.md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source_material/official_notices/2026-08-24-data-refresh-and-runtime-rules.md; artifacts/manifest.json; docs/submission/PROPOSAL_EVIDENCE_INDEX.md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docs/02_FINAL_FROZEN_DESIGN.md; docs/submission/API_SCHEMA.md; 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tools/audit_source_data.py; config/artifact_build.yaml; artifacts/manifest.json; docs/submission/PROPOSAL_EVIDENCE_INDEX.md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ontology/common.ttl; ontology/bond_kr.ttl; ontology/etf_kr.ttl; ontology/etf_gl.ttl; ontology/fund_pub.ttl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src/finproof/planner/structured_planner.py; schemas/query_plan.schema.json; config/planner_catalog.yaml; config/field_registry.yaml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docs/02_FINAL_FROZEN_DESIGN.md; src/finproof/query/segmentation.py; config/metric_registry.yaml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schemas/evidence_record.schema.json; src/finproof/evidence; src/finproof/verification; docs/submission/API_SCHEMA.md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docs/submission/API_SCHEMA.md; source_material/official_notices/2026-08-24-data-refresh-and-runtime-rules.md; docs/10_DECISION_LOG.md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docs/superpowers/plans/2026-09-03-blind-evaluation-and-submission-hardening.md; artifacts/evaluation/blind-holdout-candidate.json; artifacts/evaluation/blind-holdout-summary.json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artifacts/evaluation/blind-development-deterministic.json; artifacts/evaluation/blind-holdout-summary.json; artifacts/evaluation/ablation-organizer-20260824.json; docs/submission/PROPOSAL_EVIDENCE_INDEX.md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artifacts/evaluation/blind-development-deterministic.json; artifacts/evaluation/final-load.json; artifacts/evaluation/final-soak.json; artifacts/evaluation/blind-holdout-summary.json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config/field_registry.yaml; config/metric_registry.yaml; config/state_rules.yaml; schemas/evidence_record.schema.json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근거: README.md; docs/submission/API_SCHEMA.md; docs/submission/SUBMISSION_CHECKLIST.md; docs/submission/PROPOSAL_EVIDENCE_INDEX.md; source_material/competition_task_financial_product_agent.pdf 8-11쪽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57d7c31cb945d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9c798d3b017455f" /><Relationship Type="http://schemas.openxmlformats.org/officeDocument/2006/relationships/slideLayout" Target="/ppt/slideLayouts/slideLayout1.xml" Id="Rd08417b74f204aa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08417b74f204aa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34dad2f8124688" /><Relationship Type="http://schemas.openxmlformats.org/officeDocument/2006/relationships/notesSlide" Target="/ppt/notesSlides/notesSlide1.xml" Id="Rbfff0d6bd15c43d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c42036ef164782" /><Relationship Type="http://schemas.openxmlformats.org/officeDocument/2006/relationships/chart" Target="/ppt/slides/charts/chart1.xml" Id="R247bf12933d3476f" /><Relationship Type="http://schemas.openxmlformats.org/officeDocument/2006/relationships/notesSlide" Target="/ppt/notesSlides/notesSlide2.xml" Id="R5cfc0d7458594a4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83084e168d4c79" /><Relationship Type="http://schemas.openxmlformats.org/officeDocument/2006/relationships/notesSlide" Target="/ppt/notesSlides/notesSlide3.xml" Id="Rd0ac244d274d418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38d4030bcb4378" /><Relationship Type="http://schemas.openxmlformats.org/officeDocument/2006/relationships/notesSlide" Target="/ppt/notesSlides/notesSlide4.xml" Id="R4f0717f960744c0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371fb2c30940ca" /><Relationship Type="http://schemas.openxmlformats.org/officeDocument/2006/relationships/notesSlide" Target="/ppt/notesSlides/notesSlide5.xml" Id="R24bdc4460b3b42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3cb5dbb7794e49" /><Relationship Type="http://schemas.openxmlformats.org/officeDocument/2006/relationships/notesSlide" Target="/ppt/notesSlides/notesSlide6.xml" Id="R7c3c91fbb78845a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6ca2a2a7ee472e" /><Relationship Type="http://schemas.openxmlformats.org/officeDocument/2006/relationships/notesSlide" Target="/ppt/notesSlides/notesSlide7.xml" Id="Re73de80a6d9e4f3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b2dff1a1794d1b" /><Relationship Type="http://schemas.openxmlformats.org/officeDocument/2006/relationships/notesSlide" Target="/ppt/notesSlides/notesSlide8.xml" Id="R47a49d5ee91742c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cdc5fd010c4de7" /><Relationship Type="http://schemas.openxmlformats.org/officeDocument/2006/relationships/notesSlide" Target="/ppt/notesSlides/notesSlide9.xml" Id="Rdabbfe8c3ce84a6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9970d873fd4abb" /><Relationship Type="http://schemas.openxmlformats.org/officeDocument/2006/relationships/notesSlide" Target="/ppt/notesSlides/notesSlide10.xml" Id="Raf7de435416f440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75787c022c4b1a" /><Relationship Type="http://schemas.openxmlformats.org/officeDocument/2006/relationships/notesSlide" Target="/ppt/notesSlides/notesSlide11.xml" Id="R8966689c4b1a439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71a21376a34a8f" /><Relationship Type="http://schemas.openxmlformats.org/officeDocument/2006/relationships/chart" Target="/ppt/slides/charts/chart2.xml" Id="Rbfe73d79ed9f45a7" /><Relationship Type="http://schemas.openxmlformats.org/officeDocument/2006/relationships/notesSlide" Target="/ppt/notesSlides/notesSlide12.xml" Id="R0a1c7696087f484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6c83785faa43b3" /><Relationship Type="http://schemas.openxmlformats.org/officeDocument/2006/relationships/chart" Target="/ppt/slides/charts/chart3.xml" Id="R4b4c70a162424632" /><Relationship Type="http://schemas.openxmlformats.org/officeDocument/2006/relationships/notesSlide" Target="/ppt/notesSlides/notesSlide13.xml" Id="R455db349c0544cb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ef8f8ba0f142b5" /><Relationship Type="http://schemas.openxmlformats.org/officeDocument/2006/relationships/notesSlide" Target="/ppt/notesSlides/notesSlide14.xml" Id="R0071d4ad54bd49b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4e74de6da94543" /><Relationship Type="http://schemas.openxmlformats.org/officeDocument/2006/relationships/notesSlide" Target="/ppt/notesSlides/notesSlide15.xml" Id="R22b852a1ff6f4ac1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doughnutChart>
        <c:ser>
          <c:idx val="0"/>
          <c:order val="0"/>
          <c:tx>
            <c:v>배점</c:v>
          </c:tx>
          <c:dPt>
            <c:idx val="0"/>
            <c:spPr>
              <a:solidFill xmlns:a="http://schemas.openxmlformats.org/drawingml/2006/main">
                <a:srgbClr val="62B5E5"/>
              </a:solidFill>
            </c:spPr>
          </c:dPt>
          <c:dPt>
            <c:idx val="1"/>
            <c:spPr>
              <a:solidFill xmlns:a="http://schemas.openxmlformats.org/drawingml/2006/main">
                <a:srgbClr val="00A88F"/>
              </a:solidFill>
            </c:spPr>
          </c:dPt>
          <c:dPt>
            <c:idx val="2"/>
            <c:spPr>
              <a:solidFill xmlns:a="http://schemas.openxmlformats.org/drawingml/2006/main">
                <a:srgbClr val="2D6CDF"/>
              </a:solidFill>
            </c:spPr>
          </c:dPt>
          <c:cat>
            <c:strRef>
              <c:f>'Chart Data'!$A$2:$A$4</c:f>
              <c:strCache>
                <c:ptCount val="3"/>
                <c:pt idx="0">
                  <c:v>소스코드</c:v>
                </c:pt>
                <c:pt idx="1">
                  <c:v>기술 제안서</c:v>
                </c:pt>
                <c:pt idx="2">
                  <c:v>평가 API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20</c:v>
                </c:pt>
                <c:pt idx="1">
                  <c:v>40</c:v>
                </c:pt>
                <c:pt idx="2">
                  <c:v>40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 b="1">
                  <a:latin typeface="Apple SD Gothic Neo"/>
                  <a:ea typeface="Apple SD Gothic Neo"/>
                  <a:cs typeface="Apple SD Gothic Ne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270"/>
        <c:holeSize val="62"/>
      </c:doughnutChart>
      <c:spPr>
        <a:solidFill xmlns:a="http://schemas.openxmlformats.org/drawingml/2006/main">
          <a:srgbClr val="F7F9FC"/>
        </a:solidFill>
        <a:ln xmlns:a="http://schemas.openxmlformats.org/drawingml/2006/main" w="0">
          <a:solidFill>
            <a:srgbClr val="F7F9FC"/>
          </a:solidFill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latin typeface="Apple SD Gothic Neo"/>
              <a:ea typeface="Apple SD Gothic Neo"/>
              <a:cs typeface="Apple SD Gothic Neo"/>
            </a:defRPr>
          </a:pPr>
        </a:p>
      </c:txPr>
    </c:legend>
    <c:plotVisOnly val="1"/>
  </c:chart>
  <c:spPr>
    <a:solidFill xmlns:a="http://schemas.openxmlformats.org/drawingml/2006/main">
      <a:srgbClr val="F7F9FC"/>
    </a:solidFill>
    <a:ln xmlns:a="http://schemas.openxmlformats.org/drawingml/2006/main" w="0">
      <a:solidFill>
        <a:srgbClr val="F7F9FC"/>
      </a:solidFill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Holdout</c:v>
          </c:tx>
          <c:spPr>
            <a:solidFill xmlns:a="http://schemas.openxmlformats.org/drawingml/2006/main">
              <a:srgbClr val="2D6CDF"/>
            </a:solidFill>
          </c:spPr>
          <c:cat>
            <c:strRef>
              <c:f>'Chart Data'!$A$2:$A$6</c:f>
              <c:strCache>
                <c:ptCount val="5"/>
                <c:pt idx="0">
                  <c:v>Filter</c:v>
                </c:pt>
                <c:pt idx="1">
                  <c:v>Product</c:v>
                </c:pt>
                <c:pt idx="2">
                  <c:v>Numeric</c:v>
                </c:pt>
                <c:pt idx="3">
                  <c:v>Evidence</c:v>
                </c:pt>
                <c:pt idx="4">
                  <c:v>Semantics</c:v>
                </c:pt>
              </c:strCache>
            </c:strRef>
          </c:cat>
          <c:val>
            <c:numRef>
              <c:f>'Chart Data'!$B$2:$B$6</c:f>
              <c:numCache>
                <c:formatCode>General</c:formatCode>
                <c:ptCount val="5"/>
                <c:pt idx="0">
                  <c:v>87.04</c:v>
                </c:pt>
                <c:pt idx="1">
                  <c:v>59.04</c:v>
                </c:pt>
                <c:pt idx="2">
                  <c:v>52.17</c:v>
                </c:pt>
                <c:pt idx="3">
                  <c:v>42.98</c:v>
                </c:pt>
                <c:pt idx="4">
                  <c:v>58.78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latin typeface="Apple SD Gothic Neo"/>
                  <a:ea typeface="Apple SD Gothic Neo"/>
                  <a:cs typeface="Apple SD Gothic Ne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Apple SD Gothic Neo"/>
                <a:ea typeface="Apple SD Gothic Neo"/>
                <a:cs typeface="Apple SD Gothic Neo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6666"/>
                </a:solidFill>
                <a:latin typeface="Apple SD Gothic Neo"/>
                <a:ea typeface="Apple SD Gothic Neo"/>
                <a:cs typeface="Apple SD Gothic Neo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9FC"/>
        </a:solidFill>
        <a:ln xmlns:a="http://schemas.openxmlformats.org/drawingml/2006/main" w="9525">
          <a:solidFill>
            <a:srgbClr val="E8EEF4"/>
          </a:solidFill>
        </a:ln>
      </c:spPr>
    </c:plotArea>
    <c:plotVisOnly val="1"/>
  </c:chart>
  <c:spPr>
    <a:solidFill xmlns:a="http://schemas.openxmlformats.org/drawingml/2006/main">
      <a:srgbClr val="F7F9FC"/>
    </a:solidFill>
    <a:ln xmlns:a="http://schemas.openxmlformats.org/drawingml/2006/main" w="0">
      <a:solidFill>
        <a:srgbClr val="F7F9FC"/>
      </a:solidFill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p95 ms</c:v>
          </c:tx>
          <c:spPr>
            <a:solidFill xmlns:a="http://schemas.openxmlformats.org/drawingml/2006/main">
              <a:srgbClr val="00A88F"/>
            </a:solidFill>
          </c:spPr>
          <c:cat>
            <c:strRef>
              <c:f>'Chart Data'!$A$2:$A$4</c:f>
              <c:strCache>
                <c:ptCount val="3"/>
                <c:pt idx="0">
                  <c:v>결정론 core</c:v>
                </c:pt>
                <c:pt idx="1">
                  <c:v>최종 HCX endpoint</c:v>
                </c:pt>
                <c:pt idx="2">
                  <c:v>봉인 holdout</c:v>
                </c:pt>
              </c:strCache>
            </c:strRef>
          </c:cat>
          <c:val>
            <c:numRef>
              <c:f>'Chart Data'!$B$2:$B$4</c:f>
              <c:numCache>
                <c:formatCode>General</c:formatCode>
                <c:ptCount val="3"/>
                <c:pt idx="0">
                  <c:v>625</c:v>
                </c:pt>
                <c:pt idx="1">
                  <c:v>11007.57</c:v>
                </c:pt>
                <c:pt idx="2">
                  <c:v>31610.704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latin typeface="Apple SD Gothic Neo"/>
                  <a:ea typeface="Apple SD Gothic Neo"/>
                  <a:cs typeface="Apple SD Gothic Ne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Apple SD Gothic Neo"/>
                <a:ea typeface="Apple SD Gothic Neo"/>
                <a:cs typeface="Apple SD Gothic Neo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6666"/>
                </a:solidFill>
                <a:latin typeface="Apple SD Gothic Neo"/>
                <a:ea typeface="Apple SD Gothic Neo"/>
                <a:cs typeface="Apple SD Gothic Neo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7F9FC"/>
        </a:solidFill>
        <a:ln xmlns:a="http://schemas.openxmlformats.org/drawingml/2006/main" w="9525">
          <a:solidFill>
            <a:srgbClr val="E8EEF4"/>
          </a:solidFill>
        </a:ln>
      </c:spPr>
    </c:plotArea>
    <c:plotVisOnly val="1"/>
  </c:chart>
  <c:spPr>
    <a:solidFill xmlns:a="http://schemas.openxmlformats.org/drawingml/2006/main">
      <a:srgbClr val="F7F9FC"/>
    </a:solidFill>
    <a:ln xmlns:a="http://schemas.openxmlformats.org/drawingml/2006/main" w="0">
      <a:solidFill>
        <a:srgbClr val="F7F9FC"/>
      </a:solidFill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4AB84D-8C9E-4612-B39E-DABFC19CF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88F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5DCDA8-C2A6-45D5-AD91-6C2C035C7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6675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D685DE-4E3A-4821-8B96-CF520938D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62100"/>
            <a:ext cx="885825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금융상품 답변을</a:t>
            </a:r>
          </a:p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6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검증 가능한 사실로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AF34C0-6BA7-4DDB-851B-AE180B4C7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38550"/>
            <a:ext cx="8858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C7D5E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C7D5E2"/>
                </a:solidFill>
                <a:latin typeface="Apple SD Gothic Neo"/>
                <a:ea typeface="Apple SD Gothic Neo"/>
                <a:cs typeface="Apple SD Gothic Neo"/>
              </a:rPr>
              <a:t>질문은 HCX가 해석하고, 수치는 코드가 계산하며, 근거가 답변을 통과시킵니다.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BBCFC5-39D4-483D-9BEC-82C0549A2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62500"/>
            <a:ext cx="1028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6324F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5B5D28-19BB-4255-9D38-C3E0A8A4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054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2026 미래에셋증권 AI Festival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A125AF-950E-481E-8B7E-DCE329B1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62600"/>
            <a:ext cx="323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9FB4C8"/>
                </a:solidFill>
                <a:latin typeface="Apple SD Gothic Neo"/>
                <a:ea typeface="Apple SD Gothic Neo"/>
                <a:cs typeface="Apple SD Gothic Neo"/>
              </a:rPr>
              <a:t>제안자 곽태성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0AB572-004D-49D3-B569-0EE4853E0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641985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FB4C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9FB4C8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2029262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859262-E4C1-452E-A830-942FB5C9C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CE9958-C290-4BF9-A9C0-2090FC3DD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문제 정의와 평가 전략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9886A8-3A34-41BE-944C-7308EF125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6C5E49-3436-449E-94E3-B97D93E23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75AF34-0DCA-45DE-86C5-C071379A3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466850"/>
            <a:ext cx="6191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금융상품 질의는 자연어 해석, 이질적인 상품 스키마, 기간과 통화 비교, 결측과 상태 규칙을 동시에 다룹니다. 한 단계라도 흔들리면 그럴듯한 오답이 됩니다.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9E6BEA-3C10-4F1C-A42E-E623E9FF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7500"/>
            <a:ext cx="6191250" cy="12573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AA7CB2-3D5A-4F1A-ABAC-BBFFAB509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857500"/>
            <a:ext cx="7620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9525">
            <a:solidFill>
              <a:srgbClr val="00A88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9291F0-A063-4243-8843-7AF475107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09900"/>
            <a:ext cx="579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설계 기준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292A99-DABC-4B3E-B2C6-FEA45AE54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52800"/>
            <a:ext cx="579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정확한 검색 결과와 수치만 답변에 남기고, 근거가 부족하면 확인 불가로 종료합니다.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CD5686-26A3-4C8D-982A-432988104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62450"/>
            <a:ext cx="6191250" cy="12573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66C1D9-E27E-4D4A-A554-5BC96BB05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62450"/>
            <a:ext cx="7620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6CDF"/>
          </a:solidFill>
          <a:ln xmlns:a="http://schemas.openxmlformats.org/drawingml/2006/main" w="9525">
            <a:solidFill>
              <a:srgbClr val="2D6CDF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EC2199-0455-4DEA-B1AE-B612BAC6F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14850"/>
            <a:ext cx="5791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제출 전략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7A90CF-0981-4118-9682-D355A802A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57750"/>
            <a:ext cx="57912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소스 20점은 재현성과 계약으로, 제안서 40점은 구조와 검증 근거로, API 40점은 정확도와 지연으로 대응합니다.</a:t>
            </a:r>
          </a:p>
        </p:txBody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7448550" y="1504950"/>
          <a:ext xmlns:a="http://schemas.openxmlformats.org/drawingml/2006/main" cx="3905250" cy="33909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47bf12933d3476f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33A7A2-F918-4E85-A86D-8EB446BD1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8577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2593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배점 기준 100점</a:t>
            </a:r>
          </a:p>
        </p:txBody>
      </p:sp>
    </p:spTree>
    <p:extLst>
      <p:ext uri="{BB962C8B-B14F-4D97-AF65-F5344CB8AC3E}">
        <p14:creationId xmlns:p14="http://schemas.microsoft.com/office/powerpoint/2010/main" val="13821759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4F35C2-902F-4E94-8C46-B70C1D592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7D6AF8-3FA7-407A-B53B-B34ECD4C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최신 공식 데이터와 Source Fidelity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F7F7F1-CF5C-494F-827D-01A606110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731FE5-45A1-410A-9D45-1995AFFD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B2E718-5625-46C1-866E-55277F40C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200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53,375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16B295-A959-49E9-BB0C-5E03CA381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감사된 원천 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9EECF7-73F4-436A-B9AD-7C9F7E119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1562100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13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D1BD1B-C5DB-45F1-A5E4-0279B331B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1145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정규화 테이블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0142F6-0C0C-4ACC-B91D-17AF2FDEB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562100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rPr>
              <a:t>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7A4409-FD21-4897-8166-1F264D773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11455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공식 원천 파일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A5DEB7-1A93-4C9B-ADE4-5BDDC0EF8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63830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542"/>
          </a:bodyPr>
          <a:lstStyle xmlns:a="http://schemas.openxmlformats.org/drawingml/2006/main"/>
          <a:p xmlns:a="http://schemas.openxmlformats.org/drawingml/2006/main">
            <a:pPr algn="r">
              <a:defRPr sz="24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2026-08-24 배포본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47CFFE-AED9-4383-B430-E11BC14A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095500"/>
            <a:ext cx="3886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국내·펀드 08.22, 해외 08.23 KST까지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8F1EA3E-58B9-48FA-9AA4-0ACFCEFB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10439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8956AA-635F-4559-9C79-860A7AF3E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4953000" cy="13716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2429B42-1FEE-4D5D-82F6-EBA8D22CA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76200" cy="1371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9525">
            <a:solidFill>
              <a:srgbClr val="00A88F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33DBDC-26BB-49CB-BCE6-2E160D948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95650"/>
            <a:ext cx="4552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값을 바꾸지 않는 정제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E60972-DA26-41F8-B3BF-8B8D99DED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38550"/>
            <a:ext cx="45529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원천 위치, 원시값, 정규화값, 변환 규칙 버전, 품질 상태, 적용일을 함께 보존합니다.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CDB82E-6056-4BBB-B3D3-6BC451520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143250"/>
            <a:ext cx="5181600" cy="13716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FA384B-B92F-4E4A-8395-E41538EA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3143250"/>
            <a:ext cx="76200" cy="13716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6CDF"/>
          </a:solidFill>
          <a:ln xmlns:a="http://schemas.openxmlformats.org/drawingml/2006/main" w="9525">
            <a:solidFill>
              <a:srgbClr val="2D6CDF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4B8BDE-898A-4838-8C42-694C2818F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295650"/>
            <a:ext cx="4781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0과 결측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38864C-521C-4CD4-9D4D-0BE908336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638550"/>
            <a:ext cx="47815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전역 치환을 금지합니다. 지표별 표시·필터·순위·집계 정책이 값의 사용 가능성을 결정합니다.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845C9D-1D2A-4EDE-B31E-B27B33B44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104394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2AC8C32-E0B0-42E1-9CD7-DC7548F03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76200" cy="1066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A712"/>
          </a:solidFill>
          <a:ln xmlns:a="http://schemas.openxmlformats.org/drawingml/2006/main" w="9525">
            <a:solidFill>
              <a:srgbClr val="F3A712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9EDCF7-C59A-492E-8F66-14D17B2F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95850"/>
            <a:ext cx="10039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rPr>
              <a:t>구성종목 범위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FD1633-7553-4C96-BC88-6D69EFDF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38750"/>
            <a:ext cx="100393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근거 없는 편입종목을 만들지 않습니다. 공식 artifact에는 31,492건을 unavailable로 명시했습니다.</a:t>
            </a:r>
          </a:p>
        </p:txBody>
      </p:sp>
    </p:spTree>
    <p:extLst>
      <p:ext uri="{BB962C8B-B14F-4D97-AF65-F5344CB8AC3E}">
        <p14:creationId xmlns:p14="http://schemas.microsoft.com/office/powerpoint/2010/main" val="139563610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2859E6-49B5-4EA7-9A15-D54207A8C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61568A-5EB7-4C74-88CC-FEE69B850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전체 아키텍처와 신뢰 경계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D8ADAB-CA2C-4F04-AEA5-7D18F5C62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252786-C830-4BB7-A0CA-E10E7FE85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CE8021-9A45-49C7-A8DE-19649ECE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00250"/>
            <a:ext cx="18669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1CCC3F-2E9E-4632-9784-7C9A0D8FA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BE624D-83A5-4FB2-8FD2-924B386B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336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질문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0F1658-2B80-4A15-A966-A8FD791E6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52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GET /answer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2E3434-351F-4992-ACC5-C3EF7DAD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2000250"/>
            <a:ext cx="18669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538BEF-5A96-4F00-847C-C1A12BA60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15265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A647B1-AA0F-4DA4-87E6-C19EA05E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5336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HCX 계획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C6F4EB-E261-4DB1-9F73-8C5613771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52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구조화 출력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85A490-102B-4230-8F04-899AC9E66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000250"/>
            <a:ext cx="18669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CC21AE3-99DF-420E-963B-E147724E6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15265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F45636-E1BC-49BF-B516-E0FAB2B9E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5336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검증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41BD95-6A3C-4312-887E-A293C83A6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52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allowlist + grain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ACB46A-3991-48D4-A447-20357FE3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00250"/>
            <a:ext cx="18669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0490E7-FE81-49DF-8D1C-7170E63B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15265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1403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6CEF1D-BFFA-4B5B-874A-0A8D107E5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336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결정론 실행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C8E7E-7542-40FA-8086-30A89EBE8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952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SQL·정책·근거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67E9F8-7242-4421-AE1E-9063B3EE9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000250"/>
            <a:ext cx="18669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245DE0-0BD3-4AA4-87F8-BD0F6F60F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152650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75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6A6EC2F-21DF-4FEA-909F-46F4C050F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5336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답변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1D1350-F7FC-43A6-ACBA-347FE69E9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9527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claim 검증</a:t>
            </a:r>
          </a:p>
        </p:txBody>
      </p:sp>
      <p:cxnSp>
        <p:nvCxnSpPr>
          <p:cNvPr id="61" name=""/>
          <p:cNvCxnSpPr>
            <a:stCxn xmlns:a="http://schemas.openxmlformats.org/drawingml/2006/main" id="5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2419350" y="27336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2B5E5"/>
            </a:solidFill>
            <a:tailEnd type="arrow" w="sm" len="sm"/>
          </a:ln>
        </p:spPr>
      </p:cxnSp>
      <p:cxnSp>
        <p:nvCxnSpPr>
          <p:cNvPr id="62" name=""/>
          <p:cNvCxnSpPr>
            <a:stCxn xmlns:a="http://schemas.openxmlformats.org/drawingml/2006/main" id="9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4686300" y="27336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2B5E5"/>
            </a:solidFill>
            <a:tailEnd type="arrow" w="sm" len="sm"/>
          </a:ln>
        </p:spPr>
      </p:cxnSp>
      <p:cxnSp>
        <p:nvCxnSpPr>
          <p:cNvPr id="63" name="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6953250" y="27336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2B5E5"/>
            </a:solidFill>
            <a:tailEnd type="arrow" w="sm" len="sm"/>
          </a:ln>
        </p:spPr>
      </p:cxnSp>
      <p:cxnSp>
        <p:nvCxnSpPr>
          <p:cNvPr id="64" name=""/>
          <p:cNvCxnSpPr>
            <a:stCxn xmlns:a="http://schemas.openxmlformats.org/drawingml/2006/main" id="17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9220200" y="2733675"/>
            <a:ext cx="4000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62B5E5"/>
            </a:solidFill>
            <a:tailEnd type="arrow" w="sm" len="sm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1986D16-748E-421B-8B07-F9322B827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4838700" cy="12573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FA44430-8413-4A0A-BB91-8B825752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7620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6CDF"/>
          </a:solidFill>
          <a:ln xmlns:a="http://schemas.openxmlformats.org/drawingml/2006/main" w="9525">
            <a:solidFill>
              <a:srgbClr val="2D6CDF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9DD5244-8C8A-4F81-9EED-5E1767DFB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48150"/>
            <a:ext cx="4438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언어 모델 경계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397FC06-3966-4660-86FB-E37280BF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91050"/>
            <a:ext cx="44386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HCX-007은 intent 계획과 검증된 FactPack의 제한된 문장화만 담당합니다.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D391AA-6AAA-4232-9354-232F88A4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095750"/>
            <a:ext cx="5295900" cy="125730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41DD859-883A-4A0A-9BAC-60E93FC8E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4095750"/>
            <a:ext cx="76200" cy="1257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9525">
            <a:solidFill>
              <a:srgbClr val="00A88F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CCC742B-6883-4977-A66F-5903861BF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248150"/>
            <a:ext cx="4895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코드 경계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94F903F-56B5-4A99-B7AD-2BCDEDA10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591050"/>
            <a:ext cx="4895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검색, 필터, 순위, 집계, 계산, 근거 구성과 최종 claim 검증은 파라미터화된 코드가 담당합니다.</a:t>
            </a:r>
          </a:p>
        </p:txBody>
      </p:sp>
    </p:spTree>
    <p:extLst>
      <p:ext uri="{BB962C8B-B14F-4D97-AF65-F5344CB8AC3E}">
        <p14:creationId xmlns:p14="http://schemas.microsoft.com/office/powerpoint/2010/main" val="155499487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C1EB2A0-565F-42F4-8B80-162EAD1E4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2CFBC5-4B23-413B-B8B3-09623FD4A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적재·정규화·격리·불변 데이터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3FBB84-0F92-4844-AA6D-CA7AA45D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A76FF7-B267-4A5C-B086-B1E802974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691970-9333-42A1-B4C2-8FE4DC69A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145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E25F1C-363C-4DF7-A3D4-EE9F95E17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478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6CD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FAF797-4099-47D1-83C0-A94725E0B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47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원천 확인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B22073-D644-4CA5-9365-BBF9D6E5E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98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137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파일 checksum과 스키마를 먼저 고정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92949E-0373-4EAC-8706-359777C9A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7145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10CD54-965F-455A-8B0B-72C84163F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478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25C5C8-EB26-4381-A804-5375066D9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847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타입 정규화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8794D5-41ED-4CF4-A778-33DAA8617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2098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137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Decimal, date, 품질 상태를 보존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51B080-6836-4A4F-AFF5-3E49BA214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7145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BB8D83-7D42-40A7-8A76-81A9BA950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8478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A71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C84EEB-B92E-4114-8F6C-BD656EB1C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847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격리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3A4136-C9E4-4E10-A03E-50D2F57C3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098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137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잘못된 행은 삭제하지 않고 quarantine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EF91DD-4C65-4412-9FAD-67397A214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145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F5141E-4457-43FC-8EE9-41D7E35A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478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92945C-8329-4E18-A6A9-9E2F55665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847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artifact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906F812-B7FD-4E14-B523-F022115E5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22098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137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Parquet + DuckDB를 논리 hash로 봉인</a:t>
            </a:r>
          </a:p>
        </p:txBody>
      </p:sp>
      <p:cxnSp>
        <p:nvCxnSpPr>
          <p:cNvPr id="56" name=""/>
          <p:cNvCxnSpPr>
            <a:stCxn xmlns:a="http://schemas.openxmlformats.org/drawingml/2006/main" id="5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2990850" y="22479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57" name=""/>
          <p:cNvCxnSpPr>
            <a:stCxn xmlns:a="http://schemas.openxmlformats.org/drawingml/2006/main" id="9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5695950" y="22479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58" name=""/>
          <p:cNvCxnSpPr>
            <a:stCxn xmlns:a="http://schemas.openxmlformats.org/drawingml/2006/main" id="1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8401050" y="22479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25833C-F3D9-4DA4-B205-5EBAD7AD3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242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원시값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514DD2-E3F6-41C5-A825-94ABD32BF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862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파일·시트·행·열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26CCA0-4B33-4107-81EF-58AC09118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24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정규화값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DF4C65-42D6-45C6-9130-48446938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862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변환 규칙 버전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8860A9-06D8-422B-91A1-34F5228BF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524250"/>
            <a:ext cx="1333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품질 판단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04A0821-A715-4C4E-9D33-FD6B2CF45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862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valid·missing·quarantined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3DAEBF-5530-4E80-AB6C-E11F05616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5242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재현성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E84C86-C86D-4798-AF3E-CB1A5DCC3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86200"/>
            <a:ext cx="2647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logical SHA-256 977b3409…a9a8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1C65660-DAB5-46AB-9CE9-A6A53BCA8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62500"/>
            <a:ext cx="105156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4AA6935-43B8-4D8A-AF34-6137FFF6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762500"/>
            <a:ext cx="76200" cy="895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34F"/>
          </a:solidFill>
          <a:ln xmlns:a="http://schemas.openxmlformats.org/drawingml/2006/main" w="9525">
            <a:solidFill>
              <a:srgbClr val="D9534F"/>
            </a:solidFill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10E2D90-C865-407D-A3DA-71E58BADA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14900"/>
            <a:ext cx="10115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불변 원칙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62C31C4-853E-460B-B113-5516BA5F2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57800"/>
            <a:ext cx="10115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원천 파일은 읽기 전용이며 변환 결과가 달라지면 build가 실패합니다.</a:t>
            </a:r>
          </a:p>
        </p:txBody>
      </p:sp>
    </p:spTree>
    <p:extLst>
      <p:ext uri="{BB962C8B-B14F-4D97-AF65-F5344CB8AC3E}">
        <p14:creationId xmlns:p14="http://schemas.microsoft.com/office/powerpoint/2010/main" val="6121703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EB71BD-B1FF-4165-BF77-5EB490DE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225174-5E90-475E-857D-D36DF141F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도메인 온톨로지와 다섯 Turtle 파일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692D5E-255E-4B51-A79A-52D4DAEAC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9427C2-5EEA-4C75-9269-AFF8F64F6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5E4AA6-631C-460C-8A76-D01250D38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38300"/>
            <a:ext cx="2476500" cy="704850"/>
          </a:xfrm>
          <a:prstGeom xmlns:a="http://schemas.openxmlformats.org/drawingml/2006/main" prst="roundRect">
            <a:avLst>
              <a:gd name="adj" fmla="val 21622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F66A40-8EE1-47A4-BE13-D28456299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762125"/>
            <a:ext cx="247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fp:Product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4E5DFE-AA1F-4500-8448-DA2BE03DD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00400"/>
            <a:ext cx="2381250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B135FD-FE78-4D30-B57B-48E5E602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528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0909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국내채권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446747-A2AB-46DC-B8D1-794031946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909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instrument</a:t>
            </a:r>
          </a:p>
        </p:txBody>
      </p:sp>
      <p:cxnSp>
        <p:nvCxnSpPr>
          <p:cNvPr id="37" name=""/>
          <p:cNvCxnSpPr>
            <a:stCxn xmlns:a="http://schemas.openxmlformats.org/drawingml/2006/main" id="5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 flipH="1">
            <a:off x="1857375" y="2343150"/>
            <a:ext cx="4238625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2D6CDF"/>
            </a:solidFill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51A5DD-145B-4317-856B-5D8F410A9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200400"/>
            <a:ext cx="2381250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6D34CA-A151-41FB-9CDD-084E55099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3528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0909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국내 ETF·ETN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C0BD5F-A859-4275-BB26-505D0B0B8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909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listed_product</a:t>
            </a:r>
          </a:p>
        </p:txBody>
      </p:sp>
      <p:cxnSp>
        <p:nvCxnSpPr>
          <p:cNvPr id="41" name=""/>
          <p:cNvCxnSpPr>
            <a:stCxn xmlns:a="http://schemas.openxmlformats.org/drawingml/2006/main" id="5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 flipH="1">
            <a:off x="4562475" y="2343150"/>
            <a:ext cx="1533525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00A88F"/>
            </a:solidFill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2255CB-C26C-4CB7-95A3-61C40DD32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200400"/>
            <a:ext cx="2381250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A75D31-34D8-46AD-B4B5-A0E8FD710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3528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0909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rPr>
              <a:t>해외 ETF·ETN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E3F9D1-E95F-4576-AD99-20A2849E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909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listed_product</a:t>
            </a:r>
          </a:p>
        </p:txBody>
      </p:sp>
      <p:cxnSp>
        <p:nvCxnSpPr>
          <p:cNvPr id="45" name=""/>
          <p:cNvCxnSpPr>
            <a:stCxn xmlns:a="http://schemas.openxmlformats.org/drawingml/2006/main" id="5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6096000" y="2343150"/>
            <a:ext cx="1171575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62B5E5"/>
            </a:solidFill>
          </a:ln>
        </p:spPr>
      </p:cxn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574D58-8482-46B4-AA2A-3786D684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200400"/>
            <a:ext cx="2381250" cy="1123950"/>
          </a:xfrm>
          <a:prstGeom xmlns:a="http://schemas.openxmlformats.org/drawingml/2006/main" prst="roundRect">
            <a:avLst>
              <a:gd name="adj" fmla="val 118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838F47-8BCA-4169-AD2B-2AD6AF8D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52800"/>
            <a:ext cx="2076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0909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rPr>
              <a:t>공모펀드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E9B8DA-CDD3-490A-B28D-E335543AD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7909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fund_item / itm_no</a:t>
            </a:r>
          </a:p>
        </p:txBody>
      </p:sp>
      <p:cxnSp>
        <p:nvCxnSpPr>
          <p:cNvPr id="49" name=""/>
          <p:cNvCxnSpPr>
            <a:stCxn xmlns:a="http://schemas.openxmlformats.org/drawingml/2006/main" id="5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>
            <a:off x="6096000" y="2343150"/>
            <a:ext cx="3876675" cy="8572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F3A712"/>
            </a:solidFill>
          </a:ln>
        </p:spPr>
      </p:cxn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5CD755-D47B-41A1-B38C-8EE93FD6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10496550" cy="857250"/>
          </a:xfrm>
          <a:prstGeom xmlns:a="http://schemas.openxmlformats.org/drawingml/2006/main" prst="roundRect">
            <a:avLst>
              <a:gd name="adj" fmla="val 17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432F2D-7F61-4B27-9128-DF6875C57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76200" cy="857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9525">
            <a:solidFill>
              <a:srgbClr val="00A88F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5A046BE-E73B-4721-818D-17534DA02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72050"/>
            <a:ext cx="1009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공통 근거 모델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0B12B2-7D6F-4AC0-8633-389CEC7EB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14950"/>
            <a:ext cx="1009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4815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source table·file·sheet·row·column, raw/normalized value, quality status, applicable date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1B47F2-AFAB-4BD4-8384-2D5636997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88645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common.ttl   bond_kr.ttl   etf_kr.ttl   etf_gl.ttl   fund_pub.ttl</a:t>
            </a:r>
          </a:p>
        </p:txBody>
      </p:sp>
    </p:spTree>
    <p:extLst>
      <p:ext uri="{BB962C8B-B14F-4D97-AF65-F5344CB8AC3E}">
        <p14:creationId xmlns:p14="http://schemas.microsoft.com/office/powerpoint/2010/main" val="18153730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C8D28E-4D87-463B-BDAC-52CD23434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B012A3-0A77-406F-BD7C-F1624D296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HCX intent 계획과 QueryPlan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A24A1A-6FFC-476C-972E-37BCDBB92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0CA949-A1BF-42AA-A98A-1EEEA9FFE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FA2B72-49CD-43F2-8F23-8D6F994F6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2190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2105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HCX-007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C741E9-6EAD-4514-8EEE-2F5BA8420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3143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자연어를 제한된 구조로 해석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F64D84-0E34-481B-B8B6-97FDFCE9F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619250"/>
            <a:ext cx="66294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1F9887-5045-486A-A84D-A030D1336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7526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질문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A160FC-F037-4F44-80BA-366D7D85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75260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untrusted 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6F74AC-9100-4B57-85F3-0F2A263A7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724150"/>
            <a:ext cx="66294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4E15CE-609B-46B5-BBD9-0A2FCAC7F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575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Structured Output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C5F561-8DF0-4666-A2FB-AD9A5265F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85750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QueryPlan schema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2DF9A2-A0F0-4A9D-9E01-BD00401CA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829050"/>
            <a:ext cx="66294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355181-4E41-47C4-AF91-3D5CADCFF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9624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로컬 의미 검증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11AFF5-3119-4130-9A0C-4FFD9A28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96240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field·metric·operator allowlist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AFA1EF-5EF6-49C8-B397-583F7410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933950"/>
            <a:ext cx="6629400" cy="781050"/>
          </a:xfrm>
          <a:prstGeom xmlns:a="http://schemas.openxmlformats.org/drawingml/2006/main" prst="roundRect">
            <a:avLst>
              <a:gd name="adj" fmla="val 17073"/>
            </a:avLst>
          </a:prstGeom>
          <a:solidFill xmlns:a="http://schemas.openxmlformats.org/drawingml/2006/main">
            <a:srgbClr val="E8F7F4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F9AE8E-973F-4451-B008-428BDFF3A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067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ExecutionBundle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4DD455-04DF-4A35-BFC3-2943C0BE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067300"/>
            <a:ext cx="361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상품별 native segment</a:t>
            </a:r>
          </a:p>
        </p:txBody>
      </p:sp>
      <p:cxnSp>
        <p:nvCxnSpPr>
          <p:cNvPr id="44" name=""/>
          <p:cNvCxnSpPr>
            <a:stCxn xmlns:a="http://schemas.openxmlformats.org/drawingml/2006/main" id="7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7200900" y="240030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45" name=""/>
          <p:cNvCxnSpPr>
            <a:stCxn xmlns:a="http://schemas.openxmlformats.org/drawingml/2006/main" id="10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7200900" y="350520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46" name=""/>
          <p:cNvCxnSpPr>
            <a:stCxn xmlns:a="http://schemas.openxmlformats.org/drawingml/2006/main" id="13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7200900" y="4610100"/>
            <a:ext cx="0" cy="3238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81267C-F047-44BD-99EA-14E7A829C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2724150" cy="1352550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04D400-60DE-4158-B6BD-E9E8F382B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76200" cy="1352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34F"/>
          </a:solidFill>
          <a:ln xmlns:a="http://schemas.openxmlformats.org/drawingml/2006/main" w="9525">
            <a:solidFill>
              <a:srgbClr val="D9534F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971BA9-C90F-4B9D-B8CE-0EF5B7327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71850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fail closed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EEAA85-E680-4229-B775-9A27D650F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14750"/>
            <a:ext cx="23241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파싱·의미·entity가 불확실하면 clarify 또는 unsupported로 종료합니다.</a:t>
            </a:r>
          </a:p>
        </p:txBody>
      </p:sp>
    </p:spTree>
    <p:extLst>
      <p:ext uri="{BB962C8B-B14F-4D97-AF65-F5344CB8AC3E}">
        <p14:creationId xmlns:p14="http://schemas.microsoft.com/office/powerpoint/2010/main" val="5256188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B315E7-1E59-4D7C-A9B3-797C2C215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5AD452-C232-499D-8234-F281B6B63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상품별 native grain과 비교 가능성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260EA-39CB-4F65-8E5D-6A1835FE5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6FB5C8-53A1-490B-A839-DBCB142EB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F950ED-9E70-467D-A5FC-6C48ADB3A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1925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교차상품 질의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87D81A-8E63-4F81-8E3A-387BF51D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5740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하나의 union SQL로 합치지 않습니다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D2C5D3-43B8-4F03-A8C9-82F0F8AE6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24150"/>
            <a:ext cx="2400300" cy="165735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1CF93D-74EB-42E2-B523-E4C81EF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33700"/>
            <a:ext cx="2019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6956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product envelope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9C7136-4185-44D4-8EC7-9061655CE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48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C7D5E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C7D5E2"/>
                </a:solidFill>
                <a:latin typeface="Apple SD Gothic Neo"/>
                <a:ea typeface="Apple SD Gothic Neo"/>
                <a:cs typeface="Apple SD Gothic Neo"/>
              </a:rPr>
              <a:t>질의 조건을 상품군별로 분해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0CF620-E32B-48BE-94B8-3180439DB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600200"/>
            <a:ext cx="68580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9EF0B9-5C40-4BE8-9AD9-F32094DF8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7335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142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채권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EFB88D-2136-49F9-8660-2BCC966B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7335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instrument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F6ADB2-382E-4780-8765-C5E850504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33550"/>
            <a:ext cx="2933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만기·등급·매수수익률</a:t>
            </a:r>
          </a:p>
        </p:txBody>
      </p:sp>
      <p:cxnSp>
        <p:nvCxnSpPr>
          <p:cNvPr id="44" name=""/>
          <p:cNvCxnSpPr>
            <a:stCxn xmlns:a="http://schemas.openxmlformats.org/drawingml/2006/main" id="7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1">
            <a:off x="3048000" y="2038350"/>
            <a:ext cx="857250" cy="15144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2D6CDF"/>
            </a:solidFill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949AD6-3948-4D15-A62D-5619005F7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81300"/>
            <a:ext cx="68580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81DE27-0CB2-4182-8AE9-D21A79F6D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9146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142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국내 상장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EA983E-8890-46E3-B75F-7C8259E85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9146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listed_product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19E8EB-1D66-4F52-9AB5-AE0B1C8F4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914650"/>
            <a:ext cx="2933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1M·3M·6M·1Y·YTD</a:t>
            </a:r>
          </a:p>
        </p:txBody>
      </p:sp>
      <p:cxnSp>
        <p:nvCxnSpPr>
          <p:cNvPr id="49" name=""/>
          <p:cNvCxnSpPr>
            <a:stCxn xmlns:a="http://schemas.openxmlformats.org/drawingml/2006/main" id="7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 flipV="1">
            <a:off x="3048000" y="3219450"/>
            <a:ext cx="857250" cy="3333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0A88F"/>
            </a:solidFill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F5894F-93AF-4FCF-86A2-14258CD59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962400"/>
            <a:ext cx="68580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01E790-2283-4AFD-A262-4999EE87A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0957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142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rPr>
              <a:t>해외 상장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1CA6F6-A67C-4156-BACD-50FF21FA4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0957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listed_product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094480-97FC-40AD-8597-BAB1E8BB8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095750"/>
            <a:ext cx="2933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1D만 제공</a:t>
            </a:r>
          </a:p>
        </p:txBody>
      </p:sp>
      <p:cxnSp>
        <p:nvCxnSpPr>
          <p:cNvPr id="54" name=""/>
          <p:cNvCxnSpPr>
            <a:stCxn xmlns:a="http://schemas.openxmlformats.org/drawingml/2006/main" id="7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3048000" y="3552825"/>
            <a:ext cx="857250" cy="8477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62B5E5"/>
            </a:solidFill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6AFEDA-B8A5-4E11-9EC6-59947C678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143500"/>
            <a:ext cx="6858000" cy="876300"/>
          </a:xfrm>
          <a:prstGeom xmlns:a="http://schemas.openxmlformats.org/drawingml/2006/main" prst="roundRect">
            <a:avLst>
              <a:gd name="adj" fmla="val 152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772C5F-33FB-46FD-9140-B01E254C1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2768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1429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rPr>
              <a:t>공모펀드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4A02CF8-5107-466A-AD25-B3215C3CB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5276850"/>
            <a:ext cx="1524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fund_item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CE84AD-1E2A-4EA9-BFF3-0D6503766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276850"/>
            <a:ext cx="29337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itm_no 기준</a:t>
            </a:r>
          </a:p>
        </p:txBody>
      </p:sp>
      <p:cxnSp>
        <p:nvCxnSpPr>
          <p:cNvPr id="59" name=""/>
          <p:cNvCxnSpPr>
            <a:stCxn xmlns:a="http://schemas.openxmlformats.org/drawingml/2006/main" id="7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3048000" y="3552825"/>
            <a:ext cx="857250" cy="20288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F3A712"/>
            </a:solidFill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75FE17F-D0B3-4691-8210-D51C6276F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048250"/>
            <a:ext cx="26860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global top-k는 지표·단위·기간·통화·상태 정책이 모두 같을 때만 허용</a:t>
            </a:r>
          </a:p>
        </p:txBody>
      </p:sp>
    </p:spTree>
    <p:extLst>
      <p:ext uri="{BB962C8B-B14F-4D97-AF65-F5344CB8AC3E}">
        <p14:creationId xmlns:p14="http://schemas.microsoft.com/office/powerpoint/2010/main" val="56900598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1564B7-46B3-4F4C-971D-3744E100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4041D7-3AAE-4262-801B-4EC0423D9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근거 구성과 claim 검증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C1B626-84BE-4A4E-BD0B-357480402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456540-BEF4-4BFB-9663-920DC958D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4B663B-B4BD-4199-83B6-C1C824DA2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47850"/>
            <a:ext cx="2324100" cy="12382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42934E-F49D-4CC4-BE26-B29DF42E0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검색 결과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A3DF87-5D3C-4DB8-8A92-0863EB162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1460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native row + rank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6C1C35-67B5-4FD0-9203-ABD3A35E0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847850"/>
            <a:ext cx="2324100" cy="12382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313CF1-B45E-4FBA-A84A-573A85483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0383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EvidenceRecord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007481-8AF8-4C28-AD6D-FD66521A0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51460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원천 위치와 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88867A-9AAD-4417-A31B-26F1DD9B8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847850"/>
            <a:ext cx="2324100" cy="12382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A25377-AAA0-410A-873D-EA9765F31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0383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rPr>
              <a:t>FactPack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63D00D-C6A8-47ED-983A-E686D4D6F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51460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표현 가능한 사실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953DE4-8C75-4040-AADE-FF9B9D3C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847850"/>
            <a:ext cx="2324100" cy="123825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58907C-9BEF-4D83-A6F6-12B6C040D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0383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rPr>
              <a:t>ClaimVerifier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07C664-E78F-4B2A-B797-3B671F927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51460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문장별 근거 검사</a:t>
            </a:r>
          </a:p>
        </p:txBody>
      </p:sp>
      <p:cxnSp>
        <p:nvCxnSpPr>
          <p:cNvPr id="45" name=""/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914650" y="246697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46" name=""/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600700" y="246697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47" name=""/>
          <p:cNvCxnSpPr>
            <a:stCxn xmlns:a="http://schemas.openxmlformats.org/drawingml/2006/main" id="11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8286750" y="246697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88CC80F-0C34-4D4C-95B8-0635D33A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95700"/>
            <a:ext cx="506730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DAED9C-DA9E-45FD-BCE4-AA1C07195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69570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9525">
            <a:solidFill>
              <a:srgbClr val="00A88F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6A77C4-9D51-49C7-92F1-DC4996F67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848100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통과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1F8A60C-CBE9-4CD2-9250-4502994D3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91000"/>
            <a:ext cx="4667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수치, 비교, 순위, 개수, 제외 사유와 중요 경고가 근거에 연결되면 답변을 게시합니다.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A1AB6C-9CDD-4681-B275-9C885BF22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695700"/>
            <a:ext cx="501015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7978D8-C909-44ED-A70A-CCAB80AF4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69570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34F"/>
          </a:solidFill>
          <a:ln xmlns:a="http://schemas.openxmlformats.org/drawingml/2006/main" w="9525">
            <a:solidFill>
              <a:srgbClr val="D9534F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230774-6EA8-4342-9B6E-44876968F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48100"/>
            <a:ext cx="461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차단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A6E18C-09D9-41F2-A2A2-8917B07E0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46101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근거가 없거나 문장화가 FactPack을 벗어나면 결정론 문장 또는 확인 불가 응답으로 종료합니다.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337062-541D-4495-939D-6744498CF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0"/>
            <a:ext cx="1038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think_trace는 숨은 추론이 아니라 재현 가능한 실행 단계입니다</a:t>
            </a:r>
          </a:p>
        </p:txBody>
      </p:sp>
    </p:spTree>
    <p:extLst>
      <p:ext uri="{BB962C8B-B14F-4D97-AF65-F5344CB8AC3E}">
        <p14:creationId xmlns:p14="http://schemas.microsoft.com/office/powerpoint/2010/main" val="156750944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7BF93B-E979-4928-963E-B380D572A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E747FB-0748-445A-A397-58BE5D83A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대표 사용자 시나리오와 API 흐름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AEF02C-1F0B-417A-BDB5-6C4F8E2BC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375AA8-572F-4FD4-9872-E392655E7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0A15B4-A77C-4A98-91F5-6E4FE764B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477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“삼성전자를 보유한 국내 ETF와 공모펀드를 1년 수익률 기준으로 비교해줘”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30F1C0-05D8-4859-8FAC-7B970B23E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146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59D008-2990-4019-A716-3AD95CBBD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479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6CD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445BBB-C212-4A0C-9571-5B08E1693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6479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상품군 분해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D77042-6A13-49B5-8198-716F267C4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국내 ETF / 공모펀드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D2D5C7-B62C-4BB4-9F61-17D26349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5146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8BC23F-57D8-49A4-A838-DBF2797C5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6479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E63969-6572-425B-8D7E-F36B5CD8F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6479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보유 근거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F78166-ED8B-4A77-91FF-72516A800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0099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3137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coverage unavailable이면 제한 명시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47906D-8A32-47F1-8D9F-5520E5C39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5146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4C9F39-0C72-4A78-A59A-FAA34F32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6479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2B5E5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723427-A47C-4A38-BA2F-5FCFA4858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6479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기간 정합성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165E34-A389-4E40-BE9A-A5BFC659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0099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두 상품군의 1Y 지표만 비교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E4F6C4-DEE5-459F-90BB-5E3BB6BBA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14600"/>
            <a:ext cx="24003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876D61-39C1-473C-83D5-535836C26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47950"/>
            <a:ext cx="342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A71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B8A3CE-55F0-4F02-9E56-0B04037A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79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5758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결과 게시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AEDB80-9E13-4564-9186-6FE34AE31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009900"/>
            <a:ext cx="2057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5개 string 필드</a:t>
            </a:r>
          </a:p>
        </p:txBody>
      </p:sp>
      <p:cxnSp>
        <p:nvCxnSpPr>
          <p:cNvPr id="49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990850" y="30480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50" name="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695950" y="30480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cxnSp>
        <p:nvCxnSpPr>
          <p:cNvPr id="51" name="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401050" y="3048000"/>
            <a:ext cx="3048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2B5E5"/>
            </a:solidFill>
            <a:tailEnd type="arrow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CAEFAFD-3082-42A8-93C2-4A3BC1D98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2481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GET /answer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700FA3-827C-4A14-B542-086EC6F5B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86300"/>
            <a:ext cx="104584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E8F7F4"/>
          </a:solidFill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question_id · question · retrieved_context · think_trace · answer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2E06C62-6E87-4291-BB6F-514CB075F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429250"/>
            <a:ext cx="10458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해외 ETF의 1년 수익률은 제공되지 않으므로 같은 질의에 자동 혼합하지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59920761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44B375-B2F8-417E-8A6C-44D31978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80E733-40B3-49F9-A5F2-A9D1705DA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144 + 48 블라인드 평가 프로토콜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C60934-8304-4B7D-9E62-AB4893D3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2AF58F-7808-4D18-84DB-D9B07075C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B69408-E910-4C67-AE4D-900E400F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90700"/>
            <a:ext cx="4572000" cy="268605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C38D88-0643-42CF-A411-9ED54A1B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57400"/>
            <a:ext cx="400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개발 144건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893FC6-401C-4668-852A-5B32312AA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24150"/>
            <a:ext cx="400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교차상품·구성종목·결측/0·답변불가·오타/동의어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545603-BA27-4A8F-98C1-C359B2141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6385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reviewed plan + expected answer</a:t>
            </a:r>
          </a:p>
          <a:p xmlns:a="http://schemas.openxmlformats.org/drawingml/2006/main">
            <a:pPr algn="l">
              <a:def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수정 과정에서 열람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8E0E39-F31C-4A65-A08A-EE01540C6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90700"/>
            <a:ext cx="4572000" cy="268605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9525">
            <a:solidFill>
              <a:srgbClr val="0B1F33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DB34D3-B8BA-471E-AE3C-AF3A7B1C5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57400"/>
            <a:ext cx="4000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봉인 holdout 48건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828AEE-29A1-4CA7-B6C4-1E9C031B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724150"/>
            <a:ext cx="4000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8E5E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D8E5EF"/>
                </a:solidFill>
                <a:latin typeface="Apple SD Gothic Neo"/>
                <a:ea typeface="Apple SD Gothic Neo"/>
                <a:cs typeface="Apple SD Gothic Neo"/>
              </a:rPr>
              <a:t>질문·정답·case 결과는 private NCP curator에만 보관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140F5F-0526-4F17-859C-16B2AF7DA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6385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9BDC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9BDCF"/>
                </a:solidFill>
                <a:latin typeface="Apple SD Gothic Neo"/>
                <a:ea typeface="Apple SD Gothic Neo"/>
                <a:cs typeface="Apple SD Gothic Neo"/>
              </a:rPr>
              <a:t>freeze attestation 선행</a:t>
            </a:r>
          </a:p>
          <a:p xmlns:a="http://schemas.openxmlformats.org/drawingml/2006/main">
            <a:pPr algn="l">
              <a:defRPr sz="1350" b="0">
                <a:solidFill>
                  <a:srgbClr val="A9BDC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A9BDCF"/>
                </a:solidFill>
                <a:latin typeface="Apple SD Gothic Neo"/>
                <a:ea typeface="Apple SD Gothic Neo"/>
                <a:cs typeface="Apple SD Gothic Neo"/>
              </a:rPr>
              <a:t>root에는 aggregate summary만 반환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F1C865-14A0-40AD-AA68-C2EE1DC06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95850"/>
            <a:ext cx="100965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F3F2A6-FA75-4A7B-A504-2AF64551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95850"/>
            <a:ext cx="76200" cy="895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9525">
            <a:solidFill>
              <a:srgbClr val="00A88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CB567B-DEEE-40A2-94BD-280438DD2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48250"/>
            <a:ext cx="969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누출 방지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4D7B45-118E-4245-BF09-A6219A809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391150"/>
            <a:ext cx="969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candidate commit·image·artifact·config·prompt·model·suite checksum을 공개 전에 고정했습니다.</a:t>
            </a:r>
          </a:p>
        </p:txBody>
      </p:sp>
    </p:spTree>
    <p:extLst>
      <p:ext uri="{BB962C8B-B14F-4D97-AF65-F5344CB8AC3E}">
        <p14:creationId xmlns:p14="http://schemas.microsoft.com/office/powerpoint/2010/main" val="57059576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33C81D-1F9C-4B88-9EFB-46595065C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A6B46D-4E74-436F-9491-23A2F745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정확도 결과와 현재 한계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5216BC-DB81-46A5-802A-0F69A3D17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DE9FF3-02DB-4F63-917A-C8D1A95A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99AE83-562F-468A-9096-6F81B181E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66850"/>
            <a:ext cx="438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889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결정론 기준 144/144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A0004E-7B75-4ABC-A931-AF85BB348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9240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reviewed plan 재생에서 13개 집계 축 모두 1.0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609600" y="2495550"/>
          <a:ext xmlns:a="http://schemas.openxmlformats.org/drawingml/2006/main" cx="5810250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fe73d79ed9f45a7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5F45AA-3121-4202-B302-4C7800A1A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466850"/>
            <a:ext cx="4191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봉인 holdout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6072D2-3293-4B53-BB3E-61EB6E91F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924050"/>
            <a:ext cx="4191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25/48 성공</a:t>
            </a:r>
          </a:p>
          <a:p xmlns:a="http://schemas.openxmlformats.org/drawingml/2006/main">
            <a:pPr algn="l">
              <a:defRPr sz="255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23/48 safe failure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983374-59E2-4D9E-893F-3D30D4EAA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52750"/>
            <a:ext cx="4191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632F95-53C9-4FB0-9AF5-3F5ABB571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3850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0909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A-E 오류 건수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7ACC49-B9D8-4863-B6BA-FA51AD50C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766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A 25   B 11   C 15   D 17   E 16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A309AC-19EE-4C59-B296-E20E7728F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267200"/>
            <a:ext cx="4191000" cy="1657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E 결과</a:t>
            </a:r>
          </a:p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Product F1 47.37%</a:t>
            </a:r>
          </a:p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Order 25.95%</a:t>
            </a:r>
          </a:p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Numeric 39.13%</a:t>
            </a:r>
          </a:p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Evidence 17.08%</a:t>
            </a:r>
          </a:p>
          <a:p xmlns:a="http://schemas.openxmlformats.org/drawingml/2006/main">
            <a:pPr algn="l">
              <a:defRPr sz="14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Limitation 54.29%</a:t>
            </a:r>
          </a:p>
        </p:txBody>
      </p:sp>
    </p:spTree>
    <p:extLst>
      <p:ext uri="{BB962C8B-B14F-4D97-AF65-F5344CB8AC3E}">
        <p14:creationId xmlns:p14="http://schemas.microsoft.com/office/powerpoint/2010/main" val="146626116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C6F557-83B2-4B17-8E1B-61B2DE154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B77325-3649-48BF-94F5-50D6EF509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지연·부하·안정성 결과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7EDBCB-67D3-4388-BBD1-AE8C8C550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1C6387-54C4-4BBC-A061-837E2295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13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571500" y="1524000"/>
          <a:ext xmlns:a="http://schemas.openxmlformats.org/drawingml/2006/main" cx="6667500" cy="3429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b4c70a162424632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E7642E-474F-42E0-B634-D4B2C6FF3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530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p95 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FFC708-1AF1-4689-9BE0-2E0EF58F4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581150"/>
            <a:ext cx="333375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45F81E-63F6-46F7-9BE7-5D1111D8E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58115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6CDF"/>
          </a:solidFill>
          <a:ln xmlns:a="http://schemas.openxmlformats.org/drawingml/2006/main" w="9525">
            <a:solidFill>
              <a:srgbClr val="2D6CDF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99533B-976D-4D2E-92AB-EB2279813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733550"/>
            <a:ext cx="293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최종 load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36B264-F84B-4CC1-9C8D-BCE616FFC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076450"/>
            <a:ext cx="293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35/35 성공</a:t>
            </a:r>
          </a:p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평균 7,268.868 ms</a:t>
            </a:r>
          </a:p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p95 11,007.570 ms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640EF3-008F-4CBA-B859-31FA07737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276600"/>
            <a:ext cx="3333750" cy="1428750"/>
          </a:xfrm>
          <a:prstGeom xmlns:a="http://schemas.openxmlformats.org/drawingml/2006/main" prst="roundRect">
            <a:avLst>
              <a:gd name="adj" fmla="val 10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20C82F-932D-458D-A5B5-4A21C6D3E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276600"/>
            <a:ext cx="76200" cy="1428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9525">
            <a:solidFill>
              <a:srgbClr val="00A88F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0D951A-268E-4431-9A70-C415576A7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429000"/>
            <a:ext cx="29337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bounded soak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AA00B8-3531-43C7-8BAA-B4D5DFCF8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3771900"/>
            <a:ext cx="2933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20 cycles · 80 observations</a:t>
            </a:r>
          </a:p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1,123.638초</a:t>
            </a:r>
          </a:p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failure 0 · drift 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6B16BE-B7AB-4CC7-8455-26B470B36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10420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세 측정은 workload가 달라 직접 성능 비교에 사용하지 않습니다. 24시간 soak를 주장하지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85513170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D6B8B7-8E03-469F-8C60-210E514C5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9A21DB-C4B2-4F16-A739-F0C4C9FDD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현업 적용 지점과 상품군 확장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28F7D0-BED7-4FE5-9B96-DD0F14525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735A5C-C60A-40A5-A31E-5D083F35B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597491-98EB-4308-A574-2BBC8211C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5010150" cy="1123950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C2FB80-8041-4CC9-961F-4627EB218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62100"/>
            <a:ext cx="76200" cy="1123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D6CDF"/>
          </a:solidFill>
          <a:ln xmlns:a="http://schemas.openxmlformats.org/drawingml/2006/main" w="9525">
            <a:solidFill>
              <a:srgbClr val="2D6CDF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7A6098-7D76-4D12-9057-83540B72A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14500"/>
            <a:ext cx="461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상담 지원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7C3E25-F69F-4D6E-8B38-E843AE838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4610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답변과 근거 위치를 함께 제시해 검토 가능한 상품 비교를 지원합니다.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4F109A-C61E-48A5-B588-833B8FDC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562100"/>
            <a:ext cx="5010150" cy="1123950"/>
          </a:xfrm>
          <a:prstGeom xmlns:a="http://schemas.openxmlformats.org/drawingml/2006/main" prst="roundRect">
            <a:avLst>
              <a:gd name="adj" fmla="val 135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EF0B41-A07E-4F0C-B74A-1698BE250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562100"/>
            <a:ext cx="76200" cy="1123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88F"/>
          </a:solidFill>
          <a:ln xmlns:a="http://schemas.openxmlformats.org/drawingml/2006/main" w="9525">
            <a:solidFill>
              <a:srgbClr val="00A88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94397A-BE23-4613-BB81-BE703595D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714500"/>
            <a:ext cx="461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운영 통제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DB0122-15E1-49A6-8A9A-F5065A53A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057400"/>
            <a:ext cx="4610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등록된 field·metric·state만 실행하고 unsupported 질의를 안전하게 종료합니다.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C16E89-BA98-41E8-A7C8-4B9061CA4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확장 단위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21B7DA-5C11-467C-8876-B526356AF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90950"/>
            <a:ext cx="2266950" cy="12001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C23476-6363-4D55-8246-EBD82CCA5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81450"/>
            <a:ext cx="1962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새 상품군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DE8844-B7B9-4C36-97F6-07AF61A34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schema + grain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02D512-CA61-4E86-93FE-D0D65FD08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790950"/>
            <a:ext cx="2266950" cy="12001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8C30BD1-5D1D-4D86-9822-9F6729FB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981450"/>
            <a:ext cx="1962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새 지표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72875B-BF79-449B-9E5D-7B295D12F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4476750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metric registry + policy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2A02C0-CA2F-4ACF-80C6-273A391E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790950"/>
            <a:ext cx="2266950" cy="12001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B7BCF4-F8ED-4C83-884E-62437E087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981450"/>
            <a:ext cx="1962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62B5E5"/>
                </a:solidFill>
                <a:latin typeface="Apple SD Gothic Neo"/>
                <a:ea typeface="Apple SD Gothic Neo"/>
                <a:cs typeface="Apple SD Gothic Neo"/>
              </a:rPr>
              <a:t>새 근거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70789E-2F85-4344-815F-6D968AAA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476750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source locator + quality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535F29-76D4-4166-9568-F5D471B88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790950"/>
            <a:ext cx="2266950" cy="12001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FF16183-8B96-4231-A8EB-53585AE83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981450"/>
            <a:ext cx="1962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1">
                <a:solidFill>
                  <a:srgbClr val="F3A712"/>
                </a:solidFill>
                <a:latin typeface="Apple SD Gothic Neo"/>
                <a:ea typeface="Apple SD Gothic Neo"/>
                <a:cs typeface="Apple SD Gothic Neo"/>
              </a:rPr>
              <a:t>새 질의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9751BF-F903-49B7-A52A-5601707DC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476750"/>
            <a:ext cx="1962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8235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planner catalog + tests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B7A010A-A1B5-4455-BC07-545B0C2B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10325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확장은 registry와 계약 테스트를 추가하는 방식이며 기존 원천값과 동작을 덮어쓰지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56502942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9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F04FCE-4BAA-4D5E-938B-33C3E38C6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66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7778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FINPROOF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17A53A-B84D-4F3B-8D91-363CB7B6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2450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0B1F33"/>
                </a:solidFill>
                <a:latin typeface="Apple SD Gothic Neo"/>
                <a:ea typeface="Apple SD Gothic Neo"/>
                <a:cs typeface="Apple SD Gothic Neo"/>
              </a:rPr>
              <a:t>재현·API 계약·제출 한계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5E7A2D-8D65-4A3B-8C9E-086A6F30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200150"/>
            <a:ext cx="11010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8EEF4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C2B489-C585-416D-82E6-DB58F0A29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57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66667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36779"/>
                </a:solidFill>
                <a:latin typeface="Apple SD Gothic Neo"/>
                <a:ea typeface="Apple SD Gothic Neo"/>
                <a:cs typeface="Apple SD Gothic Neo"/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3AE3E8-2E31-4656-AC28-DFECB480F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2D6CDF"/>
                </a:solidFill>
                <a:latin typeface="Apple SD Gothic Neo"/>
                <a:ea typeface="Apple SD Gothic Neo"/>
                <a:cs typeface="Apple SD Gothic Neo"/>
              </a:rPr>
              <a:t>재현 절차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F2D32E-FE2E-4EB6-875F-3A5C10BE7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4762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1  uv sync --frozen --all-groups</a:t>
            </a:r>
          </a:p>
          <a:p xmlns:a="http://schemas.openxmlformats.org/drawingml/2006/main">
            <a:pPr algn="l">
              <a:def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2  verify_handoff + audit_source_data</a:t>
            </a:r>
          </a:p>
          <a:p xmlns:a="http://schemas.openxmlformats.org/drawingml/2006/main">
            <a:pPr algn="l">
              <a:def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3  finproof build-data --clean</a:t>
            </a:r>
          </a:p>
          <a:p xmlns:a="http://schemas.openxmlformats.org/drawingml/2006/main">
            <a:pPr algn="l">
              <a:def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4  Docker build + release manifest verify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4CABC2-C756-49DB-A763-D61ED35D8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00A88F"/>
                </a:solidFill>
                <a:latin typeface="Apple SD Gothic Neo"/>
                <a:ea typeface="Apple SD Gothic Neo"/>
                <a:cs typeface="Apple SD Gothic Neo"/>
              </a:rPr>
              <a:t>API 계약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E6293F-EB94-42F2-992C-6AE502AC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4762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GET /answer</a:t>
            </a:r>
          </a:p>
          <a:p xmlns:a="http://schemas.openxmlformats.org/drawingml/2006/main">
            <a:pPr algn="l">
              <a:def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question_id, question</a:t>
            </a:r>
          </a:p>
          <a:p xmlns:a="http://schemas.openxmlformats.org/drawingml/2006/main">
            <a:pPr algn="l">
              <a:def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응답은 정확히 5개 string 필드</a:t>
            </a:r>
          </a:p>
          <a:p xmlns:a="http://schemas.openxmlformats.org/drawingml/2006/main">
            <a:pPr algn="l">
              <a:def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평가 기간 09.07-09.20 상시 운영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163701-1F12-4106-A8B6-4A4035FAA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04950"/>
            <a:ext cx="4762500" cy="2343150"/>
          </a:xfrm>
          <a:prstGeom xmlns:a="http://schemas.openxmlformats.org/drawingml/2006/main" prst="roundRect">
            <a:avLst>
              <a:gd name="adj" fmla="val 65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63FC0D-1118-4FC9-9AD4-3ACDAE831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504950"/>
            <a:ext cx="76200" cy="2343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534F"/>
          </a:solidFill>
          <a:ln xmlns:a="http://schemas.openxmlformats.org/drawingml/2006/main" w="9525">
            <a:solidFill>
              <a:srgbClr val="D9534F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74FBAF-5EFF-4EA6-B93C-2E3BF096C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57350"/>
            <a:ext cx="436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명시적 한계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7B97DE-10C6-4161-87B5-75C6F1734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00250"/>
            <a:ext cx="43624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봉인 holdout 23/48 safe failure</a:t>
            </a:r>
          </a:p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A-E 전 변형 nonzero error</a:t>
            </a:r>
          </a:p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구성종목 coverage unavailable</a:t>
            </a:r>
          </a:p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외부 실시간 값·전망·추천 미제공</a:t>
            </a:r>
          </a:p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soak 1,123.638초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97C025-9214-45F4-AC62-CE863E27D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133850"/>
            <a:ext cx="4762500" cy="1352550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8EEF4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97285D-88C6-467C-BCF2-C181AB3D5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133850"/>
            <a:ext cx="76200" cy="13525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324F"/>
          </a:solidFill>
          <a:ln xmlns:a="http://schemas.openxmlformats.org/drawingml/2006/main" w="9525">
            <a:solidFill>
              <a:srgbClr val="16324F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A9EE78-87D9-42AA-ACA9-A315E0D69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86250"/>
            <a:ext cx="436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83333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632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6324F"/>
                </a:solidFill>
                <a:latin typeface="Apple SD Gothic Neo"/>
                <a:ea typeface="Apple SD Gothic Neo"/>
                <a:cs typeface="Apple SD Gothic Neo"/>
              </a:rPr>
              <a:t>제출 근거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E3EBB6-0AD9-48DF-B7C2-79DE48C20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4362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76389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PROPOSAL_EVIDENCE_INDEX.md</a:t>
            </a:r>
          </a:p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API_SCHEMA.md</a:t>
            </a:r>
          </a:p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SUBMISSION_CHECKLIST.md</a:t>
            </a:r>
          </a:p>
          <a:p xmlns:a="http://schemas.openxmlformats.org/drawingml/2006/main">
            <a:pPr algn="l">
              <a:def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72B3A"/>
                </a:solidFill>
                <a:latin typeface="Apple SD Gothic Neo"/>
                <a:ea typeface="Apple SD Gothic Neo"/>
                <a:cs typeface="Apple SD Gothic Neo"/>
              </a:rPr>
              <a:t>release/manifest.json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5CA2FF-C47E-409F-AE1D-92B796D67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7340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76200" tIns="47625" rIns="76200" bIns="47625" anchor="t">
            <a:normAutofit fontScale="91667"/>
          </a:bodyPr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D9534F"/>
                </a:solidFill>
                <a:latin typeface="Apple SD Gothic Neo"/>
                <a:ea typeface="Apple SD Gothic Neo"/>
                <a:cs typeface="Apple SD Gothic Neo"/>
              </a:rPr>
              <a:t>제출 마감 2026-09-06 23:59 KST</a:t>
            </a:r>
          </a:p>
        </p:txBody>
      </p:sp>
    </p:spTree>
    <p:extLst>
      <p:ext uri="{BB962C8B-B14F-4D97-AF65-F5344CB8AC3E}">
        <p14:creationId xmlns:p14="http://schemas.microsoft.com/office/powerpoint/2010/main" val="128634701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2026-09-05T15:22:46.8690000Z</dcterms:created>
  <dcterms:modified xsi:type="dcterms:W3CDTF">2026-09-05T15:22:46.8690000Z</dcterms:modified>
</coreProperties>
</file>