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71e07b6c94458" /><Relationship Type="http://schemas.openxmlformats.org/officeDocument/2006/relationships/extended-properties" Target="/docProps/app.xml" Id="R8721d16aec764e04" /><Relationship Type="http://schemas.openxmlformats.org/officeDocument/2006/relationships/officeDocument" Target="/ppt/presentation.xml" Id="Ra41fb7be564a41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6b449914334ca0"/>
  </p:sldMasterIdLst>
  <p:notesMasterIdLst>
    <p:notesMasterId xmlns:r="http://schemas.openxmlformats.org/officeDocument/2006/relationships" r:id="Rbf742842502c4397"/>
  </p:notesMasterIdLst>
  <p:sldIdLst>
    <p:sldId xmlns:r="http://schemas.openxmlformats.org/officeDocument/2006/relationships" id="256" r:id="Re3ad3b596e444e53"/>
    <p:sldId xmlns:r="http://schemas.openxmlformats.org/officeDocument/2006/relationships" id="257" r:id="R42af01885f37405d"/>
    <p:sldId xmlns:r="http://schemas.openxmlformats.org/officeDocument/2006/relationships" id="258" r:id="R3fef04d3d71a49b8"/>
    <p:sldId xmlns:r="http://schemas.openxmlformats.org/officeDocument/2006/relationships" id="259" r:id="R9a13bd98bd844c2d"/>
    <p:sldId xmlns:r="http://schemas.openxmlformats.org/officeDocument/2006/relationships" id="260" r:id="R44da1e997a984a0d"/>
    <p:sldId xmlns:r="http://schemas.openxmlformats.org/officeDocument/2006/relationships" id="261" r:id="Rba29bdbe353d43e3"/>
    <p:sldId xmlns:r="http://schemas.openxmlformats.org/officeDocument/2006/relationships" id="262" r:id="R0ed9e5f8e8384b99"/>
    <p:sldId xmlns:r="http://schemas.openxmlformats.org/officeDocument/2006/relationships" id="263" r:id="R2014da52fe6b4bc4"/>
    <p:sldId xmlns:r="http://schemas.openxmlformats.org/officeDocument/2006/relationships" id="264" r:id="R32409da630994811"/>
    <p:sldId xmlns:r="http://schemas.openxmlformats.org/officeDocument/2006/relationships" id="265" r:id="R95a1736a5316430d"/>
    <p:sldId xmlns:r="http://schemas.openxmlformats.org/officeDocument/2006/relationships" id="266" r:id="Rbce77082e62a449c"/>
    <p:sldId xmlns:r="http://schemas.openxmlformats.org/officeDocument/2006/relationships" id="267" r:id="Rcca94063a1f34017"/>
    <p:sldId xmlns:r="http://schemas.openxmlformats.org/officeDocument/2006/relationships" id="268" r:id="Rbb46af7cfa294ac1"/>
    <p:sldId xmlns:r="http://schemas.openxmlformats.org/officeDocument/2006/relationships" id="269" r:id="R87177559012a4380"/>
    <p:sldId xmlns:r="http://schemas.openxmlformats.org/officeDocument/2006/relationships" id="270" r:id="Rdbc9cb92779744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85ebb5ab4349f1" /><Relationship Type="http://schemas.openxmlformats.org/officeDocument/2006/relationships/slideMaster" Target="/ppt/slideMasters/slideMaster1.xml" Id="Rcb6b449914334ca0" /><Relationship Type="http://schemas.openxmlformats.org/officeDocument/2006/relationships/notesMaster" Target="/ppt/notesMasters/notesMaster1.xml" Id="Rbf742842502c4397" /><Relationship Type="http://schemas.openxmlformats.org/officeDocument/2006/relationships/presProps" Target="/ppt/presProps.xml" Id="Rd3585013ce594f7b" /><Relationship Type="http://schemas.openxmlformats.org/officeDocument/2006/relationships/tableStyles" Target="/ppt/tableStyles.xml" Id="R2783852570834306" /><Relationship Type="http://schemas.openxmlformats.org/officeDocument/2006/relationships/slide" Target="/ppt/slides/slide1.xml" Id="Re3ad3b596e444e53" /><Relationship Type="http://schemas.openxmlformats.org/officeDocument/2006/relationships/slide" Target="/ppt/slides/slide2.xml" Id="R42af01885f37405d" /><Relationship Type="http://schemas.openxmlformats.org/officeDocument/2006/relationships/slide" Target="/ppt/slides/slide3.xml" Id="R3fef04d3d71a49b8" /><Relationship Type="http://schemas.openxmlformats.org/officeDocument/2006/relationships/slide" Target="/ppt/slides/slide4.xml" Id="R9a13bd98bd844c2d" /><Relationship Type="http://schemas.openxmlformats.org/officeDocument/2006/relationships/slide" Target="/ppt/slides/slide5.xml" Id="R44da1e997a984a0d" /><Relationship Type="http://schemas.openxmlformats.org/officeDocument/2006/relationships/slide" Target="/ppt/slides/slide6.xml" Id="Rba29bdbe353d43e3" /><Relationship Type="http://schemas.openxmlformats.org/officeDocument/2006/relationships/slide" Target="/ppt/slides/slide7.xml" Id="R0ed9e5f8e8384b99" /><Relationship Type="http://schemas.openxmlformats.org/officeDocument/2006/relationships/slide" Target="/ppt/slides/slide8.xml" Id="R2014da52fe6b4bc4" /><Relationship Type="http://schemas.openxmlformats.org/officeDocument/2006/relationships/slide" Target="/ppt/slides/slide9.xml" Id="R32409da630994811" /><Relationship Type="http://schemas.openxmlformats.org/officeDocument/2006/relationships/slide" Target="/ppt/slides/slide10.xml" Id="R95a1736a5316430d" /><Relationship Type="http://schemas.openxmlformats.org/officeDocument/2006/relationships/slide" Target="/ppt/slides/slide11.xml" Id="Rbce77082e62a449c" /><Relationship Type="http://schemas.openxmlformats.org/officeDocument/2006/relationships/slide" Target="/ppt/slides/slide12.xml" Id="Rcca94063a1f34017" /><Relationship Type="http://schemas.openxmlformats.org/officeDocument/2006/relationships/slide" Target="/ppt/slides/slide13.xml" Id="Rbb46af7cfa294ac1" /><Relationship Type="http://schemas.openxmlformats.org/officeDocument/2006/relationships/slide" Target="/ppt/slides/slide14.xml" Id="R87177559012a4380" /><Relationship Type="http://schemas.openxmlformats.org/officeDocument/2006/relationships/slide" Target="/ppt/slides/slide15.xml" Id="Rdbc9cb92779744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b6f21390f946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20a5fc358e4257" /><Relationship Type="http://schemas.openxmlformats.org/officeDocument/2006/relationships/notesMaster" Target="/ppt/notesMasters/notesMaster1.xml" Id="R5f8b39b8ac2242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fd997d67c84d07" /><Relationship Type="http://schemas.openxmlformats.org/officeDocument/2006/relationships/notesMaster" Target="/ppt/notesMasters/notesMaster1.xml" Id="R31acf1bed55d4c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44fb45c0c149f4" /><Relationship Type="http://schemas.openxmlformats.org/officeDocument/2006/relationships/notesMaster" Target="/ppt/notesMasters/notesMaster1.xml" Id="Rb67dbd386e3f4b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43f4f0eb034ba7" /><Relationship Type="http://schemas.openxmlformats.org/officeDocument/2006/relationships/notesMaster" Target="/ppt/notesMasters/notesMaster1.xml" Id="R3ddc3b4ccb8846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a92853675e4280" /><Relationship Type="http://schemas.openxmlformats.org/officeDocument/2006/relationships/notesMaster" Target="/ppt/notesMasters/notesMaster1.xml" Id="R6d037e58309f42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e0f428e5544a4b" /><Relationship Type="http://schemas.openxmlformats.org/officeDocument/2006/relationships/notesMaster" Target="/ppt/notesMasters/notesMaster1.xml" Id="R46545707c91440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550a5d8e294ef1" /><Relationship Type="http://schemas.openxmlformats.org/officeDocument/2006/relationships/notesMaster" Target="/ppt/notesMasters/notesMaster1.xml" Id="R48b67ee4ac3a4e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fa486fcc69430e" /><Relationship Type="http://schemas.openxmlformats.org/officeDocument/2006/relationships/notesMaster" Target="/ppt/notesMasters/notesMaster1.xml" Id="Rea3be3cce47a48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a5e3d29fe24086" /><Relationship Type="http://schemas.openxmlformats.org/officeDocument/2006/relationships/notesMaster" Target="/ppt/notesMasters/notesMaster1.xml" Id="R50a61a31ad284e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fccc4a4e204f0c" /><Relationship Type="http://schemas.openxmlformats.org/officeDocument/2006/relationships/notesMaster" Target="/ppt/notesMasters/notesMaster1.xml" Id="R6ce771115c4b40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4f54162f914023" /><Relationship Type="http://schemas.openxmlformats.org/officeDocument/2006/relationships/notesMaster" Target="/ppt/notesMasters/notesMaster1.xml" Id="R5fc6e4d91e1b47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adf6f0b5e604800" /><Relationship Type="http://schemas.openxmlformats.org/officeDocument/2006/relationships/notesMaster" Target="/ppt/notesMasters/notesMaster1.xml" Id="R08bd2693214a49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65e5c03daa4efa" /><Relationship Type="http://schemas.openxmlformats.org/officeDocument/2006/relationships/notesMaster" Target="/ppt/notesMasters/notesMaster1.xml" Id="Rc67642f04d9d4e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2275e7e77d42c5" /><Relationship Type="http://schemas.openxmlformats.org/officeDocument/2006/relationships/notesMaster" Target="/ppt/notesMasters/notesMaster1.xml" Id="Reeb65c8ae048454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c1feb1c8d7c4381" /><Relationship Type="http://schemas.openxmlformats.org/officeDocument/2006/relationships/notesMaster" Target="/ppt/notesMasters/notesMaster1.xml" Id="Re467b256ecb946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source_material/competition_task_financial_product_agent.pdf 6쪽; 공식 안내에는 수치 배점이 없음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source_material/official_notices/2026-08-24-data-refresh-and-runtime-rules.md;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docs/submission/API_SCHEMA.md;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tools/audit_source_data.py; config/artifact_build.yaml;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ontology/common.ttl; ontology/bond_kr.ttl; ontology/etf_kr.ttl; ontology/etf_gl.ttl; ontology/fund_pub.ttl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src/finproof/planner/structured_planner.py; schemas/query_plan.schema.json; config/planner_catalog.yaml; config/field_registry.yaml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src/finproof/query/segmentation.py; config/metric_registry.yaml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schemas/evidence_record.schema.json; src/finproof/evidence; src/finproof/verification; docs/submission/API_SCHEMA.md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docs/submission/API_SCHEMA.md; source_material/official_notices/2026-08-24-data-refresh-and-runtime-rules.md; docs/10_DECISION_LOG.md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docs/superpowers/plans/2026-09-03-blind-evaluation-and-submission-hardening.md; artifacts/evaluation/blind-holdout-candidate.json;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artifacts/evaluation/blind-holdout-summary.json; artifacts/evaluation/ablation-organizer-20260824.json;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artifacts/evaluation/final-load.json; artifacts/evaluation/final-soak.json;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config/field_registry.yaml; config/metric_registry.yaml; config/state_rules.yaml; schemas/evidence_record.schema.json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README.md; docs/submission/API_SCHEMA.md; docs/submission/SUBMISSION_CHECKLIST.md; docs/submission/PROPOSAL_EVIDENCE_INDEX.md; artifacts/evaluation/ablation-organizer-20260824.json; source_material/competition_task_financial_product_agent.pdf 7쪽</a:t>
            </a:r>
          </a:p>
          <a:p xmlns:a="http://schemas.openxmlformats.org/drawingml/2006/main">
            <a:r>
              <a:t>운영기간 및 정확한 마감: source_material/official_notices/2026-09-06-evaluation-window-and-healthcheck.md (이전 PDF의 운영기간을 대체한 최신 주최측 공지, D-042).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5f2758f7834a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3c1f5503bb422a" /><Relationship Type="http://schemas.openxmlformats.org/officeDocument/2006/relationships/slideLayout" Target="/ppt/slideLayouts/slideLayout1.xml" Id="Rc8f43bf7992844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f43bf7992844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c5160424846c5" /><Relationship Type="http://schemas.openxmlformats.org/officeDocument/2006/relationships/notesSlide" Target="/ppt/notesSlides/notesSlide1.xml" Id="R1f057c86368f4e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2afc8826d433c" /><Relationship Type="http://schemas.openxmlformats.org/officeDocument/2006/relationships/notesSlide" Target="/ppt/notesSlides/notesSlide2.xml" Id="R9ee60192d45942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57dcef2974c1f" /><Relationship Type="http://schemas.openxmlformats.org/officeDocument/2006/relationships/notesSlide" Target="/ppt/notesSlides/notesSlide3.xml" Id="R6faeeb8a9efa4a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f9e3830134ad5" /><Relationship Type="http://schemas.openxmlformats.org/officeDocument/2006/relationships/notesSlide" Target="/ppt/notesSlides/notesSlide4.xml" Id="R89dc4b14ce694d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2cd54bcfc442e" /><Relationship Type="http://schemas.openxmlformats.org/officeDocument/2006/relationships/notesSlide" Target="/ppt/notesSlides/notesSlide5.xml" Id="R29f522ba43aa4a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498d09d78409e" /><Relationship Type="http://schemas.openxmlformats.org/officeDocument/2006/relationships/notesSlide" Target="/ppt/notesSlides/notesSlide6.xml" Id="R64d4aa8371344f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2ce2893b84040" /><Relationship Type="http://schemas.openxmlformats.org/officeDocument/2006/relationships/notesSlide" Target="/ppt/notesSlides/notesSlide7.xml" Id="Rcb1a95a0208542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3e17b1d8b4ba7" /><Relationship Type="http://schemas.openxmlformats.org/officeDocument/2006/relationships/notesSlide" Target="/ppt/notesSlides/notesSlide8.xml" Id="R6f45d046d8854d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445d23a4b40f2" /><Relationship Type="http://schemas.openxmlformats.org/officeDocument/2006/relationships/notesSlide" Target="/ppt/notesSlides/notesSlide9.xml" Id="Re6e6247215554e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a942ab92d4c3d" /><Relationship Type="http://schemas.openxmlformats.org/officeDocument/2006/relationships/notesSlide" Target="/ppt/notesSlides/notesSlide10.xml" Id="R176ad61ae82947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5357fda8f4e51" /><Relationship Type="http://schemas.openxmlformats.org/officeDocument/2006/relationships/notesSlide" Target="/ppt/notesSlides/notesSlide11.xml" Id="R5b562edb628640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4737a71834762" /><Relationship Type="http://schemas.openxmlformats.org/officeDocument/2006/relationships/chart" Target="/ppt/slides/charts/chart1.xml" Id="R3265067f7d784fbe" /><Relationship Type="http://schemas.openxmlformats.org/officeDocument/2006/relationships/notesSlide" Target="/ppt/notesSlides/notesSlide12.xml" Id="Refd26677e3fc43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eb3edfffb4a1a" /><Relationship Type="http://schemas.openxmlformats.org/officeDocument/2006/relationships/notesSlide" Target="/ppt/notesSlides/notesSlide13.xml" Id="R41c229a843f340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6fe0e65524195" /><Relationship Type="http://schemas.openxmlformats.org/officeDocument/2006/relationships/notesSlide" Target="/ppt/notesSlides/notesSlide14.xml" Id="R6a33440731274c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cb376a4924670" /><Relationship Type="http://schemas.openxmlformats.org/officeDocument/2006/relationships/notesSlide" Target="/ppt/notesSlides/notesSlide15.xml" Id="Re763fdb3cfcf463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봉인 평가 집계율 (%)</c:v>
          </c:tx>
          <c:spPr>
            <a:solidFill xmlns:a="http://schemas.openxmlformats.org/drawingml/2006/main">
              <a:srgbClr val="2D6CDF"/>
            </a:solidFill>
          </c:spPr>
          <c:cat>
            <c:strRef>
              <c:f>'Chart Data'!$A$2:$A$7</c:f>
              <c:strCache>
                <c:ptCount val="6"/>
                <c:pt idx="0">
                  <c:v>계획 필드</c:v>
                </c:pt>
                <c:pt idx="1">
                  <c:v>필터 조건</c:v>
                </c:pt>
                <c:pt idx="2">
                  <c:v>상품 집합</c:v>
                </c:pt>
                <c:pt idx="3">
                  <c:v>수치</c:v>
                </c:pt>
                <c:pt idx="4">
                  <c:v>근거</c:v>
                </c:pt>
                <c:pt idx="5">
                  <c:v>답변 의미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48.96</c:v>
                </c:pt>
                <c:pt idx="1">
                  <c:v>87.04</c:v>
                </c:pt>
                <c:pt idx="2">
                  <c:v>59.04</c:v>
                </c:pt>
                <c:pt idx="3">
                  <c:v>52.17</c:v>
                </c:pt>
                <c:pt idx="4">
                  <c:v>42.98</c:v>
                </c:pt>
                <c:pt idx="5">
                  <c:v>58.78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C"/>
        </a:solidFill>
        <a:ln xmlns:a="http://schemas.openxmlformats.org/drawingml/2006/main" w="9525">
          <a:solidFill>
            <a:srgbClr val="E8EEF4"/>
          </a:solidFill>
        </a:ln>
      </c:spPr>
    </c:plotArea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EC432-8F62-4ED2-9A3C-0BD95DFF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30826-3CD5-445A-A713-00651A5A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14C77-059A-4B48-AF4F-96D29DDF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98107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금융상품 질의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8D4D5-0F4D-4119-A3AA-00C2B5E3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공식 데이터에서 상품을 비교하고, 답변의 수치를 원천 근거와 연결합니다.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D733F-C9C1-4094-9A38-F5154652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6324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E6F7F6-A8E9-4110-B49D-0793DBCF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2026 미래에셋증권 AI Festival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3433F-0960-44C0-861D-08B475BB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4203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팀 Agent.종필     참가자 곽태성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6C9AC-84EC-49BD-B30F-9EC2CE20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6895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8640A-A22F-45BB-B674-C1C6B3E8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849ED-C1D4-41C4-8032-37BD872F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 비교에서 생기는 오류와 설계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187E-2DA4-4289-B407-9464AC9C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8742F-852B-4E68-A94C-D1199D34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B9442-1611-40CB-A1E8-98072C8D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같은 ‘수익률’이라도 상품마다 기간이 다릅니다. 펀드는 한 상품에 여러 속성 행이 붙고, 0이나 빈 값은 순위 계산에 그대로 쓸 수 없습니다.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32B75-94B3-4760-A0FF-291A9335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조건 해석과 계산의 분리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B074E4-9D56-408D-B058-DA5CD4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619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HCX가 질문을 구조화하면 코드가 상품별 규칙을 확인합니다. 검색·순위·계산은 검증한 계획으로만 실행합니다.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C0958-FF9D-406E-9DA8-D9B49DF3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근거가 부족한 답변의 제한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C542D-1F10-4739-A744-37984185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0"/>
            <a:ext cx="619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사용할 수 없는 값과 비교 조건을 답변에 남깁니다. 지원하지 않는 질의는 결과를 추측하지 않고 확인 불가로 응답합니다.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04D4C-9C60-40DD-9297-E460A6D8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0495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공식 평가 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365839-32C1-43DA-87B4-3A57E1BC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95500"/>
            <a:ext cx="386715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비공개 질의에 대한 GET 응답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문제 정의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기술 완성도와 성능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창의성과 확장성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답변의 정확성과 완결성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현업 활용성과 리스크 관리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012EA-F971-4195-ABB2-2E8280D6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34100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공식 과제설명 6쪽. 정량·정성 종합평가이며 세부 배점은 확인되지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9953845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A550DC-FE10-4F79-9FFB-21D7BB9F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BACC9-C4E4-4932-A6A2-E827D3FC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공식 데이터와 원천 보존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2957D-C7F2-4CFD-A53F-C4702A3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94D149-5A7B-4885-B8EC-ADAF30B1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74C02-E3D3-4102-8881-66CD71CE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53,375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CF1F1-89EB-4131-8AEA-308EDFF2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감사된 원천 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FB333-4C08-4B49-9A8C-EB3E77D2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B9D6C-C8FD-4EC6-9E30-577EABAD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정규화 테이블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1CBE5-27FF-4B07-AEFC-7AC86790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C8C488-BFBF-44B7-B263-127565B5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공식 원천 파일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7BADA3-CAB9-43C7-A2CF-7529ADCB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542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2026-08-24 배포본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0E170-F1DC-45EF-A847-7EE2CD87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95500"/>
            <a:ext cx="3886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국내·펀드 08.22, 해외 08.23 KST까지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8D462-727C-45BA-9E06-232F5C78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5686A-82E1-4139-9CAA-5A6B4B3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49530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87736-A606-4F82-B507-E9D74905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54C1FE-9E2D-4A46-9E00-E94623CA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4552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값을 바꾸지 않는 정제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BA6619-4958-4736-9AE2-9BA8F77B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455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위치, 원시값, 정규화값, 변환 규칙 버전, 품질 상태, 적용일을 함께 보존합니다.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10547D-FD10-4EB2-9DBC-891C482D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51816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E95600-A77B-42A0-9B46-2EA049B7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491A1A-FD0B-48D2-AAD1-F8899BD1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95650"/>
            <a:ext cx="4781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0과 결측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E086E-3A7B-4662-95E1-BD305167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38550"/>
            <a:ext cx="4781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원시값은 보존하되, 공식 공지와 지표별 정책에 따라 응답·순위에서 제외하거나 값이 없다고 알립니다.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090F6D-D08F-4575-8B59-A0DDDC7E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4394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037F46-E24D-46FF-9A8C-94F06762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62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9525">
            <a:solidFill>
              <a:srgbClr val="F3A71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8A6FC-88C9-4DF6-9001-037483BA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0039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구성종목 범위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8AA2EB-CA62-41DF-8930-8BFF706E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1003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제출 데이터에는 구성종목 확인 불가 상태 31,492건을 기록했습니다. 보유 종목을 조건으로 하는 검색은 현재 지원하지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7606624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2CC217-B31E-4672-B207-41A9E2E3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181FFD-7407-4B15-B94C-232725C6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전체 아키텍처와 신뢰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4936B-24CC-451B-8B8D-A6E5EB45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6684EF-4CEB-47C8-AE11-957DB718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57DE2-D95C-4188-82B7-D50E24C2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E0AA7-6F10-4D04-8CB4-63A86E92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3E293-C002-4FA5-8F36-0D5AC533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E04D7-3858-4BEC-A675-33287548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47BC0-7B08-454A-BB3F-BEB0D5D0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34E07-BFC7-4BD5-97D2-E9657F53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CA4CC-7001-4436-9AB8-7491D160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계획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D8FA1-6972-4CEC-9856-B08C8ED2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구조화 출력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C4DD6A-ABB4-47BA-8F33-1949F681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9B944-4EB7-474C-9C2A-734111D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C350E-9CD6-4620-A986-6784B99B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계획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80D6C-D722-465A-9DB5-ADDAD112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허용 필드·결과 단위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D013D-944C-44B9-A924-C38FFE5E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4472AA-255F-4CE8-AED7-C5E3729A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40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66BD8-6BA1-48C4-BDBC-73B80DD6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결정론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87FDB-2DED-495D-BEF0-38022C3C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SQL·정책·근거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6F8E77-9CD1-43F7-94DC-0C7E334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41A876-3607-48C7-977F-E53E3DD3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29C0A-9C73-4733-9940-988B359B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답변 단계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8E1691-E51F-426B-8B40-22DB2EAA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문장 검증 후 게시</a:t>
            </a:r>
          </a:p>
        </p:txBody>
      </p:sp>
      <p:cxnSp>
        <p:nvCxnSpPr>
          <p:cNvPr id="62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4193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863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4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9532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5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92202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39094B-FC09-4B7A-9EED-E8FB290C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48387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25769-B52E-48D2-8BCD-793985F4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76200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BF91CC-A614-4EEC-90FC-490B3EDA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HCX의 역할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0130E7-2EA7-4140-A92A-F3CC0E3B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443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질의 의도를 계획으로 바꿉니다. 답변 단계에서는 검증된 사실 묶음을 받고, 허용된 두 도입문 중 하나를 반환합니다.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F44B34-5E72-469A-8703-4340FED0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52959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D4ED38-5AAA-4349-A8FA-49E38C9F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76200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57EFA0-9C3B-4887-A746-567F999E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248150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계산과 게시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8A3FCE-F714-40E5-ABFB-B6F17A05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591050"/>
            <a:ext cx="4895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코드가 검색·계산·근거 검증을 맡습니다. HCX 도입문 뒤에 검증된 본문을 원문 그대로 붙이며, 실패하면 안전 종료합니다.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34B813-D7BE-4661-916B-EA304CD2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D-039. HCX는 상품명·수치·순위 등 본문의 핵심 사실을 변경할 수 없습니다.</a:t>
            </a:r>
          </a:p>
        </p:txBody>
      </p:sp>
    </p:spTree>
    <p:extLst>
      <p:ext uri="{BB962C8B-B14F-4D97-AF65-F5344CB8AC3E}">
        <p14:creationId xmlns:p14="http://schemas.microsoft.com/office/powerpoint/2010/main" val="1579581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83B978-0C88-426B-B312-F6430A2A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987BF-11F1-4A4D-80C2-F9BC2FA9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원천 파일에서 조회 데이터까지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A3493-1325-4F2B-932B-CE2ADD7C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D5132-2E3B-47A9-A997-033F86D5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6EE79-22D3-43B5-8CC1-9C5414DF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1D362-B02A-4F21-83EA-3467D186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A960A-E097-439B-9848-26110529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19B49-DAA4-41FE-8602-EB6347EC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 checksum과 스키마를 먼저 고정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B7D92-A8ED-4D42-9285-43AC0538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A5A94B-105A-4185-9767-7C1E571C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844F9-CC36-4560-A518-858CAB04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타입 정규화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2BBC0C-673C-4122-8E3E-FC0023D7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Decimal, date, 품질 상태를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26F03-1FBB-4DC3-B073-F3626407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6373B-3890-4DE0-BA39-7E798F3B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FFBAF-1B8C-4E66-849D-BF86AC9B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격리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3CB207-FDE3-4CC7-8ECB-5B26E667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7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잘못된 행도 별도 기록으로 보존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05009-78E6-4C9D-A6E4-9BA6D3AC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59253-48ED-42E7-BBB7-AD025411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5089DF-D62F-4282-9C5C-E11C791D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조회 데이터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5E7CB8-A5BB-4EA5-984C-FAB1A375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Parquet + DuckDB의 논리 해시 고정</a:t>
            </a:r>
          </a:p>
        </p:txBody>
      </p:sp>
      <p:cxnSp>
        <p:nvCxnSpPr>
          <p:cNvPr id="56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9908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6959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4010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C158B3-117D-4458-BC94-E182743F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원시값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B4F0E5-F629-4E5D-A092-6A246EAD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파일·시트·행·열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10BBB4-0416-44CA-8FBB-D0084724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정규화값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A75CF8-3299-4F2D-B4F5-37D88A5E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변환 규칙 버전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99FB9D-67C4-41B3-AB43-5970E424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품질 판단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3D2F8B-404E-49D3-94D5-9271F651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862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valid·missing·quarantined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19386F-978B-40D5-87D2-CF649C74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ABD035-D1EF-4BDF-87AC-14911DF7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86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logical SHA-256 977b3409…a9a8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6F3234-C7F6-4EA5-939F-23EB4790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0515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58B192-1DD2-4410-9B99-557B5841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0BE41D-47E3-446F-932A-706391BB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14900"/>
            <a:ext cx="1011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불변 원칙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662DFA-E618-42D8-99A8-D7C21B50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57800"/>
            <a:ext cx="1011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파일은 읽기 전용이며 변환 결과가 달라지면 build가 실패합니다.</a:t>
            </a:r>
          </a:p>
        </p:txBody>
      </p:sp>
    </p:spTree>
    <p:extLst>
      <p:ext uri="{BB962C8B-B14F-4D97-AF65-F5344CB8AC3E}">
        <p14:creationId xmlns:p14="http://schemas.microsoft.com/office/powerpoint/2010/main" val="6534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660874-FD90-40F6-8EF6-08255676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1D0DD-38CB-4F3B-85F1-EC60B1B6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도메인 온톨로지와 다섯 Turtle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F46E9-6BE8-4BF7-8954-E68809D1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BCF79-E80D-4B64-8F13-CAE5346E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5F591-DAFC-4044-8337-5E5725BB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38300"/>
            <a:ext cx="24765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C9254-DB0A-4376-AD81-16DC89F3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62125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fp:Product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A1976-DB27-45B6-886F-2C685C2E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0153E5-C0F4-41A9-9135-2F2A4986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국내채권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F30D1-5973-4D1A-8806-104E44C4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1857375" y="2343150"/>
            <a:ext cx="42386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52A47-BC41-411B-B8E4-E039BCF8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302D7-C926-4E38-AD73-EA25B8A7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ETF·ETN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DA09C-BA48-426A-AF9E-F0D81F0D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1" name=""/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4562475" y="2343150"/>
            <a:ext cx="15335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8E5ED-B7C2-481C-BA12-797B984C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B26AF-F2E7-44CF-B027-AA6A763D0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ETF·ETN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B8CF0-A94A-4E83-9AFD-F26AD07B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5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2343150"/>
            <a:ext cx="11715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718964-0035-4F34-BEDB-DA426E4D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C8C097-599F-4179-8059-2818761B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D0B160-EEA5-4506-A739-FE126A70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 / itm_no</a:t>
            </a:r>
          </a:p>
        </p:txBody>
      </p:sp>
      <p:cxnSp>
        <p:nvCxnSpPr>
          <p:cNvPr id="49" name=""/>
          <p:cNvCxnSpPr>
            <a:stCxn xmlns:a="http://schemas.openxmlformats.org/drawingml/2006/main" id="5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096000" y="2343150"/>
            <a:ext cx="38766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E7905E-356C-4A7B-8AA0-A53A9833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049655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C437AC-8E3E-43DC-B783-1EA8D470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87C7D9-D314-4C1C-835F-4A23655D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720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공통 근거 모델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486747-4F75-4660-9C55-2EA346BE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481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테이블·파일·시트·행·열, 원시값과 정규화값, 품질 상태와 적용일을 연결합니다.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469A6B-5AE5-4F06-B04A-2F117EF8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864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common.ttl   bond_kr.ttl   etf_kr.ttl   etf_gl.ttl   fund_pub.ttl</a:t>
            </a:r>
          </a:p>
        </p:txBody>
      </p:sp>
    </p:spTree>
    <p:extLst>
      <p:ext uri="{BB962C8B-B14F-4D97-AF65-F5344CB8AC3E}">
        <p14:creationId xmlns:p14="http://schemas.microsoft.com/office/powerpoint/2010/main" val="1230661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200A50-25E4-4CB3-B3DB-8BDE1CF2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DD8B7-19E9-4217-8E8C-D2449101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질의 의도 해석과 QueryPlan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617B88-0E01-4738-BE34-DCFC3675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CE8DC-1B8D-4412-B0BF-AF571DE8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5DFDF-F9F7-4AC2-9A80-EC6D9CA2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HCX-007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2CB8C-BC8E-40CF-B3B6-80062360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자연어를 제한된 구조로 해석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D704A-23DA-445B-A868-D3C4873C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192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D21B1-33FE-4519-BB2E-C534FF66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263E6-C071-4E27-96C6-75B342B8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외부 입력으로 취급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7FC5C2-EC83-4D91-AFD7-73601D52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241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409BA-FED0-4DC7-8B71-3792E9F5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57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구조화 출력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370EB-2D16-4A02-941E-9C7BF96C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575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QueryPlan 스키마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54979-01B4-4F51-BFB5-23BA505C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8290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3D94A5-57F0-4EA6-864D-69645261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624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로컬 의미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6DFCC5-3384-4CB2-AAD8-2E1BC582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624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필드·지표·연산자 허용 목록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0D709-FC09-4376-885B-698C573A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339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30C984-EB94-4971-B56A-05770054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67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ExecutionBundle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17C514-F640-4C7A-94F6-7C8C7031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673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상품군별 실행 구간</a:t>
            </a:r>
          </a:p>
        </p:txBody>
      </p:sp>
      <p:cxnSp>
        <p:nvCxnSpPr>
          <p:cNvPr id="44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7200900" y="24003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5" name="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7200900" y="35052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7200900" y="46101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68D614-58F4-4795-A9E9-F41F6B3F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72415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C9B917-5E1A-492E-9B6B-8E6CABBE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76200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CFB78F-1545-4154-9FD3-C8BA2540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검증 실패 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1E8D4-01C1-4697-97C1-7579B2D3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324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해석이나 상품 식별이 불확실하면 조건을 되묻거나 지원 불가를 알립니다.</a:t>
            </a:r>
          </a:p>
        </p:txBody>
      </p:sp>
    </p:spTree>
    <p:extLst>
      <p:ext uri="{BB962C8B-B14F-4D97-AF65-F5344CB8AC3E}">
        <p14:creationId xmlns:p14="http://schemas.microsoft.com/office/powerpoint/2010/main" val="18711575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DB4648-6A5C-4BFF-B059-BC1A9E29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234DE-2A92-4570-BDBD-444AC65A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상품별 결과 단위와 비교 가능성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679DB-39AF-4738-958D-8B8EFD75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D94464-E44A-4EB2-97D8-0E3339C8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FD1F0-8DA9-4F2D-813F-725A93D6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교차상품 질의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F45B9-3DC7-4E3E-88E0-8CCB9B9B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261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상품군별로 SQL을 나눠 실행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5F91A-3A3A-4025-9026-33BC2885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40030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E342A-AE2E-4966-816C-104D40F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95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product envelope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41756-0A82-4194-A020-0913748B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질의 조건을 상품군별로 분해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67D83-35BB-4F39-AECF-11555452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AD6F72-17FC-4C8B-A18A-044D052A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33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채권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270E5-6E7F-4928-A82E-83DC0F9B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33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BB695-01A1-4A46-9976-BF7B508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335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만기·등급·매수수익률</a:t>
            </a:r>
          </a:p>
        </p:txBody>
      </p:sp>
      <p:cxnSp>
        <p:nvCxnSpPr>
          <p:cNvPr id="44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3048000" y="2038350"/>
            <a:ext cx="857250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D71534-40D7-4C10-A743-3C37A48E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267677-3FE5-4ACD-817A-87013ACA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14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상장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A1116-A35E-413F-8805-3F422AD1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914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6EBDA-BBEB-4B36-9479-65EBB5D5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146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1M·3M·6M·1Y·YTD</a:t>
            </a:r>
          </a:p>
        </p:txBody>
      </p:sp>
      <p:cxnSp>
        <p:nvCxnSpPr>
          <p:cNvPr id="49" name=""/>
          <p:cNvCxnSpPr>
            <a:stCxn xmlns:a="http://schemas.openxmlformats.org/drawingml/2006/main" id="7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3048000" y="3219450"/>
            <a:ext cx="857250" cy="333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E56A9D-5CCD-42C0-ABB8-94FD26AD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624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54976E-7638-4C62-87D1-9521B2B4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상장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35A803-1280-4DDD-97E0-37E6A49A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4D7BFD-8C19-4B06-B433-EF5D4410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1D만 제공</a:t>
            </a:r>
          </a:p>
        </p:txBody>
      </p:sp>
      <p:cxnSp>
        <p:nvCxnSpPr>
          <p:cNvPr id="54" name=""/>
          <p:cNvCxnSpPr>
            <a:stCxn xmlns:a="http://schemas.openxmlformats.org/drawingml/2006/main" id="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3048000" y="3552825"/>
            <a:ext cx="857250" cy="8477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2C68E1-91FE-45AC-BF32-E35C7C88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435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0D6918-AA31-4F08-880E-8CE70FA4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76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B8330A-3A2F-45AC-A552-D12EA690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7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B6D6DE-0C3A-44F5-B7EB-CC9FB7DE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768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itm_no 기준</a:t>
            </a:r>
          </a:p>
        </p:txBody>
      </p:sp>
      <p:cxnSp>
        <p:nvCxnSpPr>
          <p:cNvPr id="59" name=""/>
          <p:cNvCxnSpPr>
            <a:stCxn xmlns:a="http://schemas.openxmlformats.org/drawingml/2006/main" id="7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048000" y="3552825"/>
            <a:ext cx="857250" cy="2028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38C966-0A02-44D4-9551-F40B5425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2686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global top-k는 지표·단위·기간·통화·상태 정책이 모두 같을 때만 허용</a:t>
            </a:r>
          </a:p>
        </p:txBody>
      </p:sp>
    </p:spTree>
    <p:extLst>
      <p:ext uri="{BB962C8B-B14F-4D97-AF65-F5344CB8AC3E}">
        <p14:creationId xmlns:p14="http://schemas.microsoft.com/office/powerpoint/2010/main" val="2211287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5C3D94-56D6-45E8-8A73-5A5DAD0B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7C139-EC2F-4925-A11D-8A91472B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근거 구성과 답변 문장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573DA-C5AB-405C-873B-1F5333D0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20719-1776-4463-AA91-9EC82599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147A-25B7-4C04-82EE-CB6C16A2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DC2F7-5C04-4A6A-98F6-4B877FFC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검색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EF9B3-9A7A-4AA0-A113-2D0FD622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상품별 결과와 순위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FDF7E-1EF5-4CCF-B2D5-D04A61B6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4BA9A-34B4-41FD-ADA7-71855DC9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EvidenceRecord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02C59-7F13-4260-8B22-F172CA60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원천 위치와 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E1039-6E52-44BB-AB6A-F8936E649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0A04A-D749-4FDC-B04F-58D1A469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FactPack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FC68A-4992-497D-AD5A-F81298BD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표현 가능한 사실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2C3FC-C167-41CE-8ED8-8DD3021E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5444A-33F2-4AF0-A829-20E3B591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ClaimVerifier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6989B2-D425-4216-9577-CBCF5FF7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문장별 근거 검사</a:t>
            </a:r>
          </a:p>
        </p:txBody>
      </p:sp>
      <p:cxnSp>
        <p:nvCxnSpPr>
          <p:cNvPr id="45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9146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60070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867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147B5-653B-4371-9101-EC448CEA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50673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59B9C1-3AB6-49AB-BB8A-5D116E97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209C78-FBB2-4F39-92D0-B25CB242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통과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1B85B-36C4-4801-BA5C-F8E59F5B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수치, 비교, 순위, 개수, 제외 사유와 중요 경고가 근거에 연결되면 답변을 게시합니다.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442D1-A0DC-4B61-A70E-7E8165F2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50101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67F278-9253-458D-A4D2-AC2BE224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F9B7A5-13BA-4C1F-B8CA-A6C9E7E2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차단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FABF98-C628-485D-B5E9-22BA5CD6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4610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평가 모드에서는 HCX 또는 검증 실패를 우회하지 않습니다. 잘못된 문장이나 미검증 결과 대신 확인 불가 응답을 반환합니다.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89FF80-4E5A-4522-9BAB-C2D2B90B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think_trace는 숨은 추론이 아니라 재현 가능한 실행 단계입니다</a:t>
            </a:r>
          </a:p>
        </p:txBody>
      </p:sp>
    </p:spTree>
    <p:extLst>
      <p:ext uri="{BB962C8B-B14F-4D97-AF65-F5344CB8AC3E}">
        <p14:creationId xmlns:p14="http://schemas.microsoft.com/office/powerpoint/2010/main" val="646832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6C222D-8BC1-439B-A8E3-0BFDF54C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BBBEB-9F18-4B6B-852A-145AFBCF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대표 사용자 시나리오와 API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6CB1B0-6671-402D-A155-7A7081C3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5C1CF-6050-473E-9453-A6C25EEB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015E5-10F5-47E4-B38F-F29E53D2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“국내 ETF와 공모펀드에서 각각 1년 수익률이 확인되는 상위 3개를 보여줘”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67EEE-A50F-4D91-BBE8-73762310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5E0921-A631-4629-AB19-709FBD7D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0B0E7-CFBB-4D8F-ABF7-13D9A44F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상품군 분해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2A7FE-8E20-4EED-A0CB-C197E9F3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 ETF / 공모펀드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68894-B192-4813-AB90-316245CC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1242E-9CC3-48CA-9F35-D8CB2B5D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952FC0-7813-4E64-857A-BF35649E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비교 조건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12591A-4C6E-477B-A198-97254C9D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1년 지표와 결측 정책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C7C6B-1F9E-496E-8A44-27128F7A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E356B-BAA5-4956-BB6D-D55963E5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B5E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83F091-C970-4907-878E-33510269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상품군별 순위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5952A0-7363-4288-B007-CEDD205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각각 상위 3개, 동률 정책 적용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DD110F-5530-439C-92AA-1B3E41F7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669CB-A0E7-4A74-AD05-4AB0B85F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A4694A-5273-4047-9A5E-706EBEA1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결과 게시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A4529-D4AB-4C84-847E-0A69D44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5개 string 필드</a:t>
            </a:r>
          </a:p>
        </p:txBody>
      </p:sp>
      <p:cxnSp>
        <p:nvCxnSpPr>
          <p:cNvPr id="50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9908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6959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2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4010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907B86-C5A7-4168-AE62-3BF131AD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62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설계 예시   top_k=3, top_k_scope=per_product_type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E67CA7-2EB3-41DD-8D80-6EDE1AA5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GET https://101-79-30-91.sslip.io/answer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20CA8E-F2FA-406B-B680-77D783D6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86300"/>
            <a:ext cx="104584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question_id · question · retrieved_context · think_trace · answer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DFDEAA-2024-4C4A-AD44-FE44B488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29250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해외 ETF의 1년 수익률은 제공되지 않으므로 같은 질의에 자동 혼합하지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781622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E9601-49EB-4224-B5C5-7FE9C26D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244B4-D729-4E2F-9F3D-99B4E90C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개발용 144건과 봉인 평가 48건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FDA5C-ACC3-4D56-9DE5-4091FAE3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EBA23-91B4-4242-9129-7AA02CCA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00A0E-527C-456D-BD26-3D61DDF0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94794-2744-4479-9339-2211FC5D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개발 144건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3FE37-7D48-4E8B-BA80-0EC6E49E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교차상품·구성종목·결측/0·답변불가·오타/동의어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534D1-BF8B-43D6-90BA-C15E341E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계획과 기준 답안을 검토한 뒤</a:t>
            </a:r>
          </a:p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개발 및 회귀 검증에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0EA2A-1B79-429D-AF46-4A9EE2D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7A0D98-303C-4C47-A25F-7C58B5CB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봉인 평가 48건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B21F34-2F34-40AD-904E-F813A3F7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rPr>
              <a:t>질문·정답·개별 결과는 분리된 NCP 평가 환경에 보관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23CC8-8B33-485E-81C7-03918450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평가 후보 고정 후 실행</a:t>
            </a:r>
          </a:p>
          <a:p xmlns:a="http://schemas.openxmlformats.org/drawingml/2006/main">
            <a:pPr algn="l">
              <a:def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개발 환경에는 집계 결과만 반환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F3E031-77C1-4B2B-A7BF-C0E6F698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00965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7EDD6-8217-49BE-B0E1-3A1343CA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D4C77-D13B-49A0-BBAF-937FA140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969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누출 방지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1F60D6-E17A-4244-9132-5E87F12B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평가 전에 커밋·이미지·데이터·설정·프롬프트·모델·문항 묶음의 식별값을 고정했습니다.</a:t>
            </a:r>
          </a:p>
        </p:txBody>
      </p:sp>
    </p:spTree>
    <p:extLst>
      <p:ext uri="{BB962C8B-B14F-4D97-AF65-F5344CB8AC3E}">
        <p14:creationId xmlns:p14="http://schemas.microsoft.com/office/powerpoint/2010/main" val="1484215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378131-DDCD-4D95-B97B-84301D68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AF400-FE33-4A2D-BACE-54818FA4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정확도 결과와 현재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561CA-1BB8-483B-A1BC-AD185387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5B84B-F8D0-413D-9C01-1410DFE6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840A3-F6C1-4191-967F-38F19E8F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계획 재생 144/144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99EF8-B7E7-4DE9-A2EE-86AC7760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검토된 계획을 재생한 결정론 코어</a:t>
            </a:r>
          </a:p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13개 집계 축 모두 1.0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609600" y="2914650"/>
          <a:ext xmlns:a="http://schemas.openxmlformats.org/drawingml/2006/main" cx="5962650" cy="2876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65067f7d784fb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7D21A-B355-4F99-BEA6-4DBE2C03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466850"/>
            <a:ext cx="4610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봉인 평가 정상 25/48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16A24-C290-4F99-9267-7A7D025F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81200"/>
            <a:ext cx="428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언어 해석·답변 단계를 포함한 평가</a:t>
            </a:r>
          </a:p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23/48건은 안전 종료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9929F-410B-4B63-9FBE-9392C051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527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9A682-AAF1-4491-9762-6629FBB7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38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봉인 평가 지표별 집계율 (%)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2E3C7F-90D1-46AB-9A6D-F659C2CA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7190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축마다 채점 대상과 분모가 다릅니다. 정상 응답 25건이 모두 정답이라는 의미는 아닙니다.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920F3-82AA-4EC8-BF13-A742BE71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4286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검토된 계획의 코어 검증 결과를 처음 보는 질문의 전체 정확도로 일반화할 수 없습니다.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06F0D-AEB2-4A8B-8175-74B90DD4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15050"/>
            <a:ext cx="10858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blind-development-deterministic.json, blind-holdout-summary.json. 봉인 평가 후보는 별도 식별값으로 고정.</a:t>
            </a:r>
          </a:p>
        </p:txBody>
      </p:sp>
    </p:spTree>
    <p:extLst>
      <p:ext uri="{BB962C8B-B14F-4D97-AF65-F5344CB8AC3E}">
        <p14:creationId xmlns:p14="http://schemas.microsoft.com/office/powerpoint/2010/main" val="4161806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3B6682-B89C-405A-B739-EE6FC609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341F1-A176-40FB-8C4D-565EDC5A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지연·부하·안정성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B9EC8-15C7-40DE-856E-1F60FE41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FEBC1-3AE6-448C-89E0-498C61B3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0E23B-69A8-4B58-8018-7CFFF7F3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서로 다른 시험 조건을 분리해 기록했습니다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5156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47950"/>
                <a:gridCol w="5105400"/>
                <a:gridCol w="2762250"/>
              </a:tblGrid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시험</a:t>
                      </a:r>
                    </a:p>
                  </a:txBody>
                  <a:tcPr marL="91440" marR="91440" marT="45720" marB="45720"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요청 구성과 결과</a:t>
                      </a:r>
                    </a:p>
                  </a:txBody>
                  <a:tcPr marL="91440" marR="91440" marT="45720" marB="45720"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p95 지연</a:t>
                      </a:r>
                    </a:p>
                  </a:txBody>
                  <a:tcPr marL="91440" marR="91440" marT="45720" marB="45720" anchor="ctr">
                    <a:solidFill>
                      <a:srgbClr val="0B1F33"/>
                    </a:solidFill>
                  </a:tcPr>
                </a:tc>
              </a:tr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결정론 계획 재생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검토된 144건, HCX 단계 제외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625 ms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최종 HCX API 부하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검토된 4개 질의를 가중 반복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35요청 / 정상 35 / 실패 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11,007.570 ms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봉인 평가 API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처음 보는 48건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정상 25 / 안전 종료 23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31,610.704 ms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CBA60-2B2D-4EFD-9956-4735FFC9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반복 안정성 시험   20회 반복 / 80회 관측 / 1,123.638초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5DA2F-D9AC-4D93-83AE-D5E5867D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515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4697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실패 0건, 결과 변동 0건. 이 시험은 24시간 연속 안정성을 입증하지 않습니다.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D2F13-CE75-4C95-84EB-D62ADFE0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final-load.json, final-soak.json 및 두 블라인드 집계 보고서. 질문 구성과 후보가 달라 속도 순위로 비교하지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334847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3FE4C-E259-4FB3-B86A-132E813A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5A09C-A950-44CF-A02C-267F9BE1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현업 적용 지점과 상품군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8C61E-7B53-4303-8039-A988241A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3D85E-F65A-4631-9B84-5919DBD2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A1504-F376-4295-8B75-C2D6025E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701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상담 담당자의 비교 검토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CD273-3326-412D-9F67-BD1D6AD4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43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후보 상품과 수치의 원천 위치를 함께 확인합니다. 결과에 붙은 기준일·비교 제한을 보고 고객에게 설명할 범위를 판단할 수 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C5C49-C08A-47BC-9EA1-3507CBA1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701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운영 담당자의 통제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0C992-4CAF-4D74-A982-4EA43ED4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43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등록한 필드와 지표만 실행합니다. 외부 실시간 데이터 없이 같은 기준 데이터로 결과를 재현하고, 해석 실패는 확인 불가 응답으로 구분합니다.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08C3B-C1FA-41D1-9B34-F08832B9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701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다음 상품군을 추가할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7282C-EE2E-4774-A619-A920A1CE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43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스키마와 결과 단위를 정의하고, 지표의 단위·기간·결측 정책과 원천 위치를 등록합니다. 해당 규칙의 계약 테스트를 통과한 뒤 조회 범위에 넣습니다.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C2CD4-A98C-402A-AF94-0719C04B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439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기대 활용 방식이며, 실제 현업 시간 절감이나 투자 성과를 측정한 결과는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4220279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AC8A6-D298-40E1-A82B-EA22AC8A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C608A-0F90-40B1-B6D6-5EB00BBA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재현·API 계약·제출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B7790-2444-48B4-953A-26D0B284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433F8-EE6C-4860-917F-E467682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9F49A-4560-4C2A-8320-5153F23B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재현 절차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88E9D-4428-4EDA-B933-51BC1441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  uv sync --frozen --all-groups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2  verify_handoff + audit_source_data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3  finproof build-data --clean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4  Docker build + release manifest verify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066B7-3A9D-40EB-825D-C54A041F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API 계약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8E597-8E10-43D2-BC38-70FC0496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238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https://101-79-30-91.sslip.io/answer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GET, question_id와 question 전달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응답은 정확히 5개 문자열 필드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운영 09.07 10:00 - 09.11 15:00 (KST)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56CA3-6372-4725-8832-0846352E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현재 제공하지 않는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00AB3-A43E-471D-9224-35B3A507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00250"/>
            <a:ext cx="4762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구성종목 기반 검색</a:t>
            </a:r>
          </a:p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해외 ETF 1년 수익률</a:t>
            </a:r>
          </a:p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실시간 값·수익 전망·단정적 추천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74F807-052E-4EEA-A202-708AE77F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861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A–E 구성별 진단 실험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7B939-9C81-4917-B5D0-DB8F3931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433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A 25   B 11   C 15   D 17   E 16건</a:t>
            </a:r>
          </a:p>
          <a:p xmlns:a="http://schemas.openxmlformats.org/drawingml/2006/main">
            <a:pPr algn="l">
              <a:def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35사례를 각각 2회 평가했습니다.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CD219-BC87-4B38-93E9-B07CADAD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3870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오류 건수는 한 번이라도 오류가 난 사례 수입니다. B–E는 복구한 계획 시도 오류도 포함합니다. 단조 개선이나 무오류 운영의 근거로 쓰지 않습니다.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08179-1E9F-4996-8C9F-2E2DE35A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상세 근거와 한계: docs/submission/PROPOSAL_EVIDENCE_INDEX.md 및 RELEASE_RECORD.md</a:t>
            </a:r>
          </a:p>
        </p:txBody>
      </p:sp>
    </p:spTree>
    <p:extLst>
      <p:ext uri="{BB962C8B-B14F-4D97-AF65-F5344CB8AC3E}">
        <p14:creationId xmlns:p14="http://schemas.microsoft.com/office/powerpoint/2010/main" val="17848274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Agent.종필</dc:creator>
  <cp:lastModifiedBy>Walnut Exporter</cp:lastModifiedBy>
  <dc:title>FinProof 금융상품 질의 시스템 기술 제안서</dc:title>
  <dcterms:created xsi:type="dcterms:W3CDTF">2026-09-05T16:23:49.7270000Z</dcterms:created>
  <dcterms:modified xsi:type="dcterms:W3CDTF">2026-09-05T16:23:49.7270000Z</dcterms:modified>
  <dc:subject>2026 미래에셋증권 AI Festival 금융상품 Agent</dc:subject>
</cp:coreProperties>
</file>