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34befd312a4fd1" /><Relationship Type="http://schemas.openxmlformats.org/officeDocument/2006/relationships/extended-properties" Target="/docProps/app.xml" Id="R7dd1275a327347df" /><Relationship Type="http://schemas.openxmlformats.org/officeDocument/2006/relationships/officeDocument" Target="/ppt/presentation.xml" Id="R907e4cd68d9045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4542da952249c8"/>
  </p:sldMasterIdLst>
  <p:notesMasterIdLst>
    <p:notesMasterId xmlns:r="http://schemas.openxmlformats.org/officeDocument/2006/relationships" r:id="R90f69137a3de4b2f"/>
  </p:notesMasterIdLst>
  <p:sldIdLst>
    <p:sldId xmlns:r="http://schemas.openxmlformats.org/officeDocument/2006/relationships" id="256" r:id="R3adffa566df449b0"/>
    <p:sldId xmlns:r="http://schemas.openxmlformats.org/officeDocument/2006/relationships" id="257" r:id="Rb9753ea5a0da4174"/>
    <p:sldId xmlns:r="http://schemas.openxmlformats.org/officeDocument/2006/relationships" id="258" r:id="R687777129de9485b"/>
    <p:sldId xmlns:r="http://schemas.openxmlformats.org/officeDocument/2006/relationships" id="259" r:id="R5d44083fb2414a16"/>
    <p:sldId xmlns:r="http://schemas.openxmlformats.org/officeDocument/2006/relationships" id="260" r:id="R360c4eb87d314543"/>
    <p:sldId xmlns:r="http://schemas.openxmlformats.org/officeDocument/2006/relationships" id="261" r:id="R7f2dae09ee9e4188"/>
    <p:sldId xmlns:r="http://schemas.openxmlformats.org/officeDocument/2006/relationships" id="262" r:id="Rfd52189a7ab94133"/>
    <p:sldId xmlns:r="http://schemas.openxmlformats.org/officeDocument/2006/relationships" id="263" r:id="R1a4d4a555c044e22"/>
    <p:sldId xmlns:r="http://schemas.openxmlformats.org/officeDocument/2006/relationships" id="264" r:id="R54b733c333b8432e"/>
    <p:sldId xmlns:r="http://schemas.openxmlformats.org/officeDocument/2006/relationships" id="265" r:id="R4c847f0f36e24bbf"/>
    <p:sldId xmlns:r="http://schemas.openxmlformats.org/officeDocument/2006/relationships" id="266" r:id="R5bee73b5acca4f45"/>
    <p:sldId xmlns:r="http://schemas.openxmlformats.org/officeDocument/2006/relationships" id="267" r:id="R81de28596c514392"/>
    <p:sldId xmlns:r="http://schemas.openxmlformats.org/officeDocument/2006/relationships" id="268" r:id="R426cfdb382f14709"/>
    <p:sldId xmlns:r="http://schemas.openxmlformats.org/officeDocument/2006/relationships" id="269" r:id="R9a6b9b577d7c4f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4a5eb8ead24599" /><Relationship Type="http://schemas.openxmlformats.org/officeDocument/2006/relationships/slideMaster" Target="/ppt/slideMasters/slideMaster1.xml" Id="R134542da952249c8" /><Relationship Type="http://schemas.openxmlformats.org/officeDocument/2006/relationships/notesMaster" Target="/ppt/notesMasters/notesMaster1.xml" Id="R90f69137a3de4b2f" /><Relationship Type="http://schemas.openxmlformats.org/officeDocument/2006/relationships/presProps" Target="/ppt/presProps.xml" Id="R676841bd64f74821" /><Relationship Type="http://schemas.openxmlformats.org/officeDocument/2006/relationships/tableStyles" Target="/ppt/tableStyles.xml" Id="R3a421226f39b4167" /><Relationship Type="http://schemas.openxmlformats.org/officeDocument/2006/relationships/slide" Target="/ppt/slides/slide1.xml" Id="R3adffa566df449b0" /><Relationship Type="http://schemas.openxmlformats.org/officeDocument/2006/relationships/slide" Target="/ppt/slides/slide2.xml" Id="Rb9753ea5a0da4174" /><Relationship Type="http://schemas.openxmlformats.org/officeDocument/2006/relationships/slide" Target="/ppt/slides/slide3.xml" Id="R687777129de9485b" /><Relationship Type="http://schemas.openxmlformats.org/officeDocument/2006/relationships/slide" Target="/ppt/slides/slide4.xml" Id="R5d44083fb2414a16" /><Relationship Type="http://schemas.openxmlformats.org/officeDocument/2006/relationships/slide" Target="/ppt/slides/slide5.xml" Id="R360c4eb87d314543" /><Relationship Type="http://schemas.openxmlformats.org/officeDocument/2006/relationships/slide" Target="/ppt/slides/slide6.xml" Id="R7f2dae09ee9e4188" /><Relationship Type="http://schemas.openxmlformats.org/officeDocument/2006/relationships/slide" Target="/ppt/slides/slide7.xml" Id="Rfd52189a7ab94133" /><Relationship Type="http://schemas.openxmlformats.org/officeDocument/2006/relationships/slide" Target="/ppt/slides/slide8.xml" Id="R1a4d4a555c044e22" /><Relationship Type="http://schemas.openxmlformats.org/officeDocument/2006/relationships/slide" Target="/ppt/slides/slide9.xml" Id="R54b733c333b8432e" /><Relationship Type="http://schemas.openxmlformats.org/officeDocument/2006/relationships/slide" Target="/ppt/slides/slide10.xml" Id="R4c847f0f36e24bbf" /><Relationship Type="http://schemas.openxmlformats.org/officeDocument/2006/relationships/slide" Target="/ppt/slides/slide11.xml" Id="R5bee73b5acca4f45" /><Relationship Type="http://schemas.openxmlformats.org/officeDocument/2006/relationships/slide" Target="/ppt/slides/slide12.xml" Id="R81de28596c514392" /><Relationship Type="http://schemas.openxmlformats.org/officeDocument/2006/relationships/slide" Target="/ppt/slides/slide13.xml" Id="R426cfdb382f14709" /><Relationship Type="http://schemas.openxmlformats.org/officeDocument/2006/relationships/slide" Target="/ppt/slides/slide14.xml" Id="R9a6b9b577d7c4f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8e5ca7ed3a4f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05b3cc043e4d5c" /><Relationship Type="http://schemas.openxmlformats.org/officeDocument/2006/relationships/notesMaster" Target="/ppt/notesMasters/notesMaster1.xml" Id="R933aad9eb2a149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79cd8504094039" /><Relationship Type="http://schemas.openxmlformats.org/officeDocument/2006/relationships/notesMaster" Target="/ppt/notesMasters/notesMaster1.xml" Id="Rbd6845c2246d42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f24ba6279c4f31" /><Relationship Type="http://schemas.openxmlformats.org/officeDocument/2006/relationships/notesMaster" Target="/ppt/notesMasters/notesMaster1.xml" Id="R8839c29bd54543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9b155d435e4993" /><Relationship Type="http://schemas.openxmlformats.org/officeDocument/2006/relationships/notesMaster" Target="/ppt/notesMasters/notesMaster1.xml" Id="Raeca62431a3d4f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54521021c54c02" /><Relationship Type="http://schemas.openxmlformats.org/officeDocument/2006/relationships/notesMaster" Target="/ppt/notesMasters/notesMaster1.xml" Id="R805297d85d0e4b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974883188442fe" /><Relationship Type="http://schemas.openxmlformats.org/officeDocument/2006/relationships/notesMaster" Target="/ppt/notesMasters/notesMaster1.xml" Id="R896e593a49fd41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c03a39a1624fd8" /><Relationship Type="http://schemas.openxmlformats.org/officeDocument/2006/relationships/notesMaster" Target="/ppt/notesMasters/notesMaster1.xml" Id="R5791d4b3600244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45a8dc9734459a" /><Relationship Type="http://schemas.openxmlformats.org/officeDocument/2006/relationships/notesMaster" Target="/ppt/notesMasters/notesMaster1.xml" Id="Rfc00dbf0af954c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450891e1ef42de" /><Relationship Type="http://schemas.openxmlformats.org/officeDocument/2006/relationships/notesMaster" Target="/ppt/notesMasters/notesMaster1.xml" Id="Rc39466dcc63345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aa90a0c63d4300" /><Relationship Type="http://schemas.openxmlformats.org/officeDocument/2006/relationships/notesMaster" Target="/ppt/notesMasters/notesMaster1.xml" Id="Re8052b6582404f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ca62feb2a94dc2" /><Relationship Type="http://schemas.openxmlformats.org/officeDocument/2006/relationships/notesMaster" Target="/ppt/notesMasters/notesMaster1.xml" Id="Rb7f1f8d436544f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ab45b65b8294fcf" /><Relationship Type="http://schemas.openxmlformats.org/officeDocument/2006/relationships/notesMaster" Target="/ppt/notesMasters/notesMaster1.xml" Id="R2562922462e84c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f15916593b94352" /><Relationship Type="http://schemas.openxmlformats.org/officeDocument/2006/relationships/notesMaster" Target="/ppt/notesMasters/notesMaster1.xml" Id="R538c7b731b554ee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39441b0d98f471f" /><Relationship Type="http://schemas.openxmlformats.org/officeDocument/2006/relationships/notesMaster" Target="/ppt/notesMasters/notesMaster1.xml" Id="Ra9f18a64ceb840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시스템명 FinProof, 팀 Agent.종필, 참가자 곽태성·유영준. 기술 범위는 D-039의 검증된 제출 후보 기준이며 측정 결과는 각 보고서에 기록된 후보와 요청 구성에 귀속된다.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색상 참고: 미래에셋증권 CI Guide https://securities.miraeasset.com/newir/view/mobile/kr/ciguide.jsp (2026-09-06 확인). 팀 Agent.종필의 제안서이며 공식 로고는 사용하지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기존 제안서 2·8·9·14쪽, docs/submission/PROPOSAL_EVIDENCE_INDEX.md. 기대 활용 가치는 설계 설명이며 실제 시간 절감이나 투자 성과를 측정했다는 주장이 아니다. 공식 심사는 정량·정성 혼합이며 배점은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색상 참고: 미래에셋증권 CI Guide https://securities.miraeasset.com/newir/view/mobile/kr/ciguide.jsp (2026-09-06 확인). 팀 Agent.종필의 제안서이며 공식 로고는 사용하지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원문: evaluation/organizer_20260824/review/expected-review-v3.json; 승인일 2026-08-29, 승인자 곽태성, SHA-256 859602d78d005b66e4417a8093c4585a8198cde6890f6066c7216100a625f38c.</a:t>
            </a:r>
          </a:p>
          <a:p xmlns:a="http://schemas.openxmlformats.org/drawingml/2006/main">
            <a:r>
              <a:t>질문: 2026년 8월 24일 제공 데이터 기준으로 국내채권 중 매수수익률이 높은 5개를 알려줘.</a:t>
            </a:r>
          </a:p>
          <a:p xmlns:a="http://schemas.openxmlformats.org/drawingml/2006/main">
            <a:r>
              <a:t>원문 답변 전체:</a:t>
            </a:r>
          </a:p>
          <a:p xmlns:a="http://schemas.openxmlformats.org/drawingml/2006/main">
            <a:r>
              <a:t>2026-08-24 배포본 기준(국내·공모 2026-08-22, 해외 2026-08-23 커버리지)</a:t>
            </a:r>
          </a:p>
          <a:p xmlns:a="http://schemas.openxmlformats.org/drawingml/2006/main">
            <a:r>
              <a:t>1위. 국내채권 우리은행조건부자본증권(상)2710이(신)영구5갑16(조건상각/콜/후) (KR6000036DA8) — 매수수익률 5.29%</a:t>
            </a:r>
          </a:p>
          <a:p xmlns:a="http://schemas.openxmlformats.org/drawingml/2006/main">
            <a:r>
              <a:t>2위. 국내채권 NH농협금융지주 조건부자본증권(상)5(조건상각/콜/후) (KR6166263D50) — 매수수익률 5.117%</a:t>
            </a:r>
          </a:p>
          <a:p xmlns:a="http://schemas.openxmlformats.org/drawingml/2006/main">
            <a:r>
              <a:t>3위. 국내채권 한국투자캐피탈133 (KR6214341G28) — 매수수익률 4.988%</a:t>
            </a:r>
          </a:p>
          <a:p xmlns:a="http://schemas.openxmlformats.org/drawingml/2006/main">
            <a:r>
              <a:t>4위. 국내채권 KB금융지주 조건부자본증권(상)11-2(조건상각/콜/후) (KR6105561D24) — 매수수익률 4.898%</a:t>
            </a:r>
          </a:p>
          <a:p xmlns:a="http://schemas.openxmlformats.org/drawingml/2006/main">
            <a:r>
              <a:t>5위. 국내채권 메리츠캐피탈 296-5 (KR6169375G49) — 매수수익률 4.861%</a:t>
            </a:r>
          </a:p>
          <a:p xmlns:a="http://schemas.openxmlformats.org/drawingml/2006/main">
            <a:r>
              <a:t>결측 지표값은 순위에서 제외했습니다.</a:t>
            </a:r>
          </a:p>
          <a:p xmlns:a="http://schemas.openxmlformats.org/drawingml/2006/main">
            <a:r>
              <a:t>KR6214341G28의 매수수익률은 유효 로트 중 최댓값을 선택했으며, 관측 범위는 4.78~4.988입니다.</a:t>
            </a:r>
          </a:p>
          <a:p xmlns:a="http://schemas.openxmlformats.org/drawingml/2006/main">
            <a:r>
              <a:t>KR6169375G49의 매수수익률은 유효 로트 중 최댓값을 선택했으며, 관측 범위는 4.71~4.861입니다.</a:t>
            </a:r>
          </a:p>
          <a:p xmlns:a="http://schemas.openxmlformats.org/drawingml/2006/main">
            <a:r>
              <a:t>데이터 품질 정책 경고: 채권의 종료 상태는 원천 데이터로 검증할 수 없습니다.</a:t>
            </a:r>
          </a:p>
          <a:p xmlns:a="http://schemas.openxmlformats.org/drawingml/2006/main">
            <a:r>
              <a:t>일부 지표값은 비교 가능 기준에서 제외했습니다.</a:t>
            </a:r>
          </a:p>
          <a:p xmlns:a="http://schemas.openxmlformats.org/drawingml/2006/main">
            <a:r>
              <a:t>본문 표는 상위 5개 중 3개 발췌로 상품명, 식별자, 순위, 수익률을 보존했다. 표는 실제 HTTP 응답 포맷을 뜻하지 않는다. 9쪽은 제시한 3위 상품의 로트 경고와 근거 정보를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색상 참고: 미래에셋증권 CI Guide https://securities.miraeasset.com/newir/view/mobile/kr/ciguide.jsp (2026-09-06 확인). 팀 Agent.종필의 제안서이며 공식 로고는 사용하지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docs/submission/PROPOSAL_EVIDENCE_INDEX.md Claim limits, docs/10_DECISION_LOG.md D-039. HCX 또는 검증 실패는 미검증 응답이나 HCX-free fallback으로 우회하지 않는다. 표는 기존 D-039 승인 경계를 기술하며 다른 후보의 구현 완료를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색상 참고: 미래에셋증권 CI Guide https://securities.miraeasset.com/newir/view/mobile/kr/ciguide.jsp (2026-09-06 확인). 팀 Agent.종필의 제안서이며 공식 로고는 사용하지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source_material/official_notices/2026-08-24-data-refresh-and-runtime-rules.md; artifacts/manifest.json; docs/submission/PROPOSAL_EVIDENCE_INDEX.md. 원천은 읽기 전용. 데이터 생성 파이프라인은 checksum/스키마 확인, Decimal/date 정규화, 격리 보존, Parquet+DuckDB 생성, 논리 해시 고정 순서이다. 기준 논리 해시 977b34099c246ca0156824a661718d027fba2eb5adee3f1cbbb8945fbd90a9a8.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색상 참고: 미래에셋증권 CI Guide https://securities.miraeasset.com/newir/view/mobile/kr/ciguide.jsp (2026-09-06 확인). 팀 Agent.종필의 제안서이며 공식 로고는 사용하지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ontology/*.ttl 및 기존 제안서 6·8쪽. 파일 수를 온톨로지의 성능 근거로 제시하지 않으며 자동 구성종목 지식 추론을 주장하지 않는다. family 추정이나 속성 행을 기본 상품 단위로 바꾸지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색상 참고: 미래에셋증권 CI Guide https://securities.miraeasset.com/newir/view/mobile/kr/ciguide.jsp (2026-09-06 확인). 팀 Agent.종필의 제안서이며 공식 로고는 사용하지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evaluation/organizer_20260824/review/expected-review-v3.json, ORG-20260824-E-001 plan. 상품군별 의미 검증 후 immutable ExecutionBundle을 구성한다. 이 페이지는 실제 승인 계획의 발췌이지 자유 형식 Text-to-SQL 또는 새로운 HCX 생성 결과가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색상 참고: 미래에셋증권 CI Guide https://securities.miraeasset.com/newir/view/mobile/kr/ciguide.jsp (2026-09-06 확인). 팀 Agent.종필의 제안서이며 공식 로고는 사용하지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기존 제안서 8·10쪽, 해외 ETF 1년 수익률 관련 공식 Q&amp;A, docs/submission/PROPOSAL_EVIDENCE_INDEX.md. 예시는 top_k=3, top_k_scope=per_product_type. 해외 ETF의 일간 수익률을 연간 수익률로 환산하지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색상 참고: 미래에셋증권 CI Guide https://securities.miraeasset.com/newir/view/mobile/kr/ciguide.jsp (2026-09-06 확인). 팀 Agent.종필의 제안서이며 공식 로고는 사용하지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evaluation/organizer_20260824/review/expected-review-v3.json, ORG-20260824-E-001. 실제 claim_id=claim:summary:summary:rank:2; evidence_ids=[summary:rank:2, domestic_bond:KR6214341G28:product_id]. canonical_normalized_json="4.988", unit=percent, rank=3. 저장된 경고: KR6214341G28의 매수수익률은 유효 로트 중 최댓값을 선택했으며, 관측 범위는 4.78~4.988입니다. EvidenceRecord는 원천 위치·값을 보존하고 FactPack은 표현 가능한 사실을 제공하며 ClaimVerifier가 게시 전 검증한다. 원천 행 번호를 이 페이지에서 임의로 만들지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색상 참고: 미래에셋증권 CI Guide https://securities.miraeasset.com/newir/view/mobile/kr/ciguide.jsp (2026-09-06 확인). 팀 Agent.종필의 제안서이며 공식 로고는 사용하지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기존 제안서 3·14·15쪽, PROPOSAL_EVIDENCE_INDEX.md. 31,492는 unavailable coverage 행 수이며 지원 상품의 수나 실제 구성종목 수를 뜻하지 않는다. 현업 효과는 설계상 활용 시나리오로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색상 참고: 미래에셋증권 CI Guide https://securities.miraeasset.com/newir/view/mobile/kr/ciguide.jsp (2026-09-06 확인). 팀 Agent.종필의 제안서이며 공식 로고는 사용하지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artifacts/evaluation/blind-development-deterministic.json 및 blind-holdout-summary.json. Holdout 후보 b10d2e6…efcdf, 48-case suite 900571a8…02ec. 144건은 HCX 단계를 제외한 검토된 계획 재생이며 48건과 동일한 실험으로 비교하거나 일반화할 수 없다. 정상 응답은 정답을 뜻하지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색상 참고: 미래에셋증권 CI Guide https://securities.miraeasset.com/newir/view/mobile/kr/ciguide.jsp (2026-09-06 확인). 팀 Agent.종필의 제안서이며 공식 로고는 사용하지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artifacts/evaluation/blind-holdout-summary.json. 계획 필드 236/482, 필터 47/54, 상품 집합 111/188, 수치 60/115, 근거 98/228, 답변 의미 154/262. 정상 응답 25건이 모두 정답은 아니며 안전 종료 23건을 성공으로 계산하지 않는다. 검토된 계획 재생 144건과 다른 실험이다.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색상 참고: 미래에셋증권 CI Guide https://securities.miraeasset.com/newir/view/mobile/kr/ciguide.jsp (2026-09-06 확인). 팀 Agent.종필의 제안서이며 공식 로고는 사용하지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원래 관측 수치: 결정론 재생 p95 625 ms; final-load p95 11007.570 ms, mean 7268.868 ms; 봉인 평가 API p95 31610.704 ms. Soak cycles=20, observations=80, active_seconds=1123.6383504400146, failure=0, drift=0. 본문 초 표기는 반올림 표시다. 35요청은 35개 서로 다른 질문이 아니다. 후보 및 workload가 달라 속도 우열이나 개선폭으로 비교하지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색상 참고: 미래에셋증권 CI Guide https://securities.miraeasset.com/newir/view/mobile/kr/ciguide.jsp (2026-09-06 확인). 팀 Agent.종필의 제안서이며 공식 로고는 사용하지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docs/submission/API_SCHEMA.md, README.md, Dockerfile, release/manifest.json. 최신 주최측 운영 공지: 2026-09-07 10:00부터 2026-09-11 15:00 KST. 제출 기한 2026-09-06 23:59 KST. 제출 저장소 https://github.com/miraeasset-aifestival-2026-product/fin-211.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2e8530681647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537d8293094cd7" /><Relationship Type="http://schemas.openxmlformats.org/officeDocument/2006/relationships/slideLayout" Target="/ppt/slideLayouts/slideLayout1.xml" Id="R0e4c85318f584e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4c85318f584e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3bd93f92246d6" /><Relationship Type="http://schemas.openxmlformats.org/officeDocument/2006/relationships/notesSlide" Target="/ppt/notesSlides/notesSlide1.xml" Id="Rc966a57015a641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adc87472142cf" /><Relationship Type="http://schemas.openxmlformats.org/officeDocument/2006/relationships/notesSlide" Target="/ppt/notesSlides/notesSlide2.xml" Id="R645b96f5e7a041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4a08c7b664560" /><Relationship Type="http://schemas.openxmlformats.org/officeDocument/2006/relationships/notesSlide" Target="/ppt/notesSlides/notesSlide3.xml" Id="Rf692495d46014f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c3757d1804686" /><Relationship Type="http://schemas.openxmlformats.org/officeDocument/2006/relationships/notesSlide" Target="/ppt/notesSlides/notesSlide4.xml" Id="Rf27a3e13762748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d654a3eea472b" /><Relationship Type="http://schemas.openxmlformats.org/officeDocument/2006/relationships/notesSlide" Target="/ppt/notesSlides/notesSlide5.xml" Id="R408984453fd540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316e401b743b4" /><Relationship Type="http://schemas.openxmlformats.org/officeDocument/2006/relationships/notesSlide" Target="/ppt/notesSlides/notesSlide6.xml" Id="R7397df5e35ff45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ea5a335164f0d" /><Relationship Type="http://schemas.openxmlformats.org/officeDocument/2006/relationships/notesSlide" Target="/ppt/notesSlides/notesSlide7.xml" Id="R07c9b67bbf1641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3aacc5d2e4f06" /><Relationship Type="http://schemas.openxmlformats.org/officeDocument/2006/relationships/notesSlide" Target="/ppt/notesSlides/notesSlide8.xml" Id="R516e0654ef2e41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68d76ad4d4408" /><Relationship Type="http://schemas.openxmlformats.org/officeDocument/2006/relationships/notesSlide" Target="/ppt/notesSlides/notesSlide9.xml" Id="Rb1f69284f5d943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1c009a5eb4ed5" /><Relationship Type="http://schemas.openxmlformats.org/officeDocument/2006/relationships/notesSlide" Target="/ppt/notesSlides/notesSlide10.xml" Id="R9cd13ee9d4c347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6712da1fd470a" /><Relationship Type="http://schemas.openxmlformats.org/officeDocument/2006/relationships/notesSlide" Target="/ppt/notesSlides/notesSlide11.xml" Id="Rf5978192bef34e5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03e443ddb4f78" /><Relationship Type="http://schemas.openxmlformats.org/officeDocument/2006/relationships/chart" Target="/ppt/slides/charts/chart1.xml" Id="R1678dba228864f9b" /><Relationship Type="http://schemas.openxmlformats.org/officeDocument/2006/relationships/notesSlide" Target="/ppt/notesSlides/notesSlide12.xml" Id="Raea507fddf1b42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52c500d754419" /><Relationship Type="http://schemas.openxmlformats.org/officeDocument/2006/relationships/notesSlide" Target="/ppt/notesSlides/notesSlide13.xml" Id="Re8589ed68756481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178c891284a11" /><Relationship Type="http://schemas.openxmlformats.org/officeDocument/2006/relationships/notesSlide" Target="/ppt/notesSlides/notesSlide14.xml" Id="Rc2a6cf444de744d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봉인 평가 집계 점수</c:v>
          </c:tx>
          <c:spPr>
            <a:solidFill xmlns:a="http://schemas.openxmlformats.org/drawingml/2006/main">
              <a:srgbClr val="F58220"/>
            </a:solidFill>
          </c:spPr>
          <c:cat>
            <c:strRef>
              <c:f>'Chart Data'!$A$2:$A$7</c:f>
              <c:strCache>
                <c:ptCount val="6"/>
                <c:pt idx="0">
                  <c:v>계획 필드 (236/482)</c:v>
                </c:pt>
                <c:pt idx="1">
                  <c:v>필터 조건 (47/54)</c:v>
                </c:pt>
                <c:pt idx="2">
                  <c:v>상품 집합 (111/188)</c:v>
                </c:pt>
                <c:pt idx="3">
                  <c:v>수치 (60/115)</c:v>
                </c:pt>
                <c:pt idx="4">
                  <c:v>근거 (98/228)</c:v>
                </c:pt>
                <c:pt idx="5">
                  <c:v>답변 의미 (154/262)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48.96</c:v>
                </c:pt>
                <c:pt idx="1">
                  <c:v>87.04</c:v>
                </c:pt>
                <c:pt idx="2">
                  <c:v>59.04</c:v>
                </c:pt>
                <c:pt idx="3">
                  <c:v>52.17</c:v>
                </c:pt>
                <c:pt idx="4">
                  <c:v>42.98</c:v>
                </c:pt>
                <c:pt idx="5">
                  <c:v>58.78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182B3B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8243D-5D1E-4218-9945-0AB3BFFF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2026 미래에셋증권 AI Festival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E977F-45BB-4C19-A647-320D02E2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0477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20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FinProof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836B8-1835-4857-AAAC-4732524F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5822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05951-47BE-461D-B4C1-EF3E4DBC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금융상품 비교의 기준과 근거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52BD6-AD20-44F5-9A43-D8474972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공식 데이터에 기반한 검색·계산·답변 검증 시스템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9BD36-4E75-4BCF-9AF8-69C6DD4D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기술 제안서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50318-1231-4A6D-A531-7855640B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4102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2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팀 Agent.종필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97835-6871-4C5B-BC84-BDCCE288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90550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참가자 곽태성 · 유영준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C7F49-A9B9-4646-8C81-5347BADD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2026.09.06</a:t>
            </a:r>
          </a:p>
        </p:txBody>
      </p:sp>
    </p:spTree>
    <p:extLst>
      <p:ext uri="{BB962C8B-B14F-4D97-AF65-F5344CB8AC3E}">
        <p14:creationId xmlns:p14="http://schemas.microsoft.com/office/powerpoint/2010/main" val="2016895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B27E7C-1946-47C4-A6FB-2F4D139D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Agent.종필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AF63C-659E-4E54-81E7-A2AA4440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금융상품 비교의 기준과 오류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984B8-8873-46D5-AB24-2106F61B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822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DB4D3-DA9C-477D-9B1E-1F8E54D8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95464-945A-447B-ADAD-62A542E0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상품마다 비교 기준이 다릅니다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DCCD1-5455-41FB-8EFA-EECA873F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5334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채권의 매수수익률과 펀드의 과거 수익률은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같은 의미가 아닙니다. ETF도 제공된 기간과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통화가 다르면 하나의 순위로 묶을 수 없습니다.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F7FC9-10C5-4886-933C-351280EC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573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FinProof의 처리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8AD74-7401-4AB0-A270-5D684E49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62225"/>
            <a:ext cx="4953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HCX의 해석을 상품별 규칙과 대조하고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코드가 검색과 계산을 수행합니다.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답변에 기준일과 비교 제한을 표시합니다.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7158A-964D-46DA-905F-41FA5809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4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38D81A-D726-4437-9DF4-968E9D65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사용자가 확인할 수 있는 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D506E-8941-449C-9481-23140CFE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어떤 조건으로 고른 상품인지, 수치의 근거는 무엇인지,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어디까지 비교할 수 있는지를 한 답변에서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9953845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08EA68-8C03-405F-A4C6-F7F5E6F1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Agent.종필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84A9A0-29FC-439D-BD31-2F82F6EC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국내채권 수익률 조회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A8B22-706A-4781-A3D5-B355146B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822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96DD6-9D17-4393-AD1D-1DE0BCF1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근거: 로컬 기준답안 ORG-20260824-E-001 v3.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62801-C9AF-46AE-B954-B64EE93C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97F35-55E1-4359-8CD2-B20D97A4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“2026년 8월 24일 제공 데이터 기준으로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국내채권 중 매수수익률이 높은 5개를 알려줘.”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A0EB7-FDE7-4188-AE7C-42454E15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HCX 단계를 제외한 로컬 기준답안입니다. 상위 5개 중 3개를 발췌했습니다.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933700"/>
          <a:ext xmlns:a="http://schemas.openxmlformats.org/drawingml/2006/main" cx="10972800" cy="2190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42950"/>
                <a:gridCol w="8382000"/>
                <a:gridCol w="1847850"/>
              </a:tblGrid>
              <a:tr h="4191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순위</a:t>
                      </a:r>
                    </a:p>
                  </a:txBody>
                  <a:tcPr marL="91440" marR="91440" marT="45720" marB="45720" anchor="ctr">
                    <a:solidFill>
                      <a:srgbClr val="043B7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채권명 / 종목코드</a:t>
                      </a:r>
                    </a:p>
                  </a:txBody>
                  <a:tcPr marL="91440" marR="91440" marT="45720" marB="45720" anchor="ctr">
                    <a:solidFill>
                      <a:srgbClr val="043B7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매수수익률</a:t>
                      </a:r>
                    </a:p>
                  </a:txBody>
                  <a:tcPr marL="91440" marR="91440" marT="45720" marB="45720" anchor="ctr">
                    <a:solidFill>
                      <a:srgbClr val="043B72"/>
                    </a:solidFill>
                  </a:tcPr>
                </a:tc>
              </a:tr>
              <a:tr h="5905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우리은행조건부자본증권(상)2710이(신)영구5갑16(조건상각/콜/후)</a:t>
                      </a:r>
                    </a:p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KR6000036DA8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sz="2100" b="1">
                          <a:solidFill>
                            <a:srgbClr val="043B7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5.29%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NH농협금융지주 조건부자본증권(상)5(조건상각/콜/후)</a:t>
                      </a:r>
                    </a:p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KR6166263D50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sz="2100" b="1">
                          <a:solidFill>
                            <a:srgbClr val="043B7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5.117%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한국투자캐피탈133</a:t>
                      </a:r>
                    </a:p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KR6214341G28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sz="2100" b="1">
                          <a:solidFill>
                            <a:srgbClr val="043B7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4.988%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F8EF0D-E51E-4B19-9582-6BA8450F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기준일과 결과의 한계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4DB6A2-6847-4081-AD19-69DD4277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08.24 배포본 / 국내 데이터 08.22까지. 결측 지표는 순위에서 제외했습니다.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채권의 종료 상태는 원천으로 검증할 수 없으며, 로트별 수익률 범위는 9쪽에 설명합니다.</a:t>
            </a:r>
          </a:p>
        </p:txBody>
      </p:sp>
    </p:spTree>
    <p:extLst>
      <p:ext uri="{BB962C8B-B14F-4D97-AF65-F5344CB8AC3E}">
        <p14:creationId xmlns:p14="http://schemas.microsoft.com/office/powerpoint/2010/main" val="17606624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8E9D5F-382C-40B1-8629-B75D8240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Agent.종필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BECE3-2EAC-4652-B777-7C96612E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HCX와 실행 코드의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04161-AE4A-4A1A-9276-16789FDB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822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0F80B-A2B8-4302-A2EE-74FEA88C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구현 및 측정 기준: RELEASE_RECORD.md.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E4F66-0B82-413C-80C2-9700E379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F76EF-3DB6-41A2-B4B0-C6500053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CDABE-3B98-4C10-924B-567FE159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822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BEBF2-D373-418F-997E-552D4B96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HCX 계획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429CB-7624-46F7-AFF4-329F99A0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HCX-007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CBD64-46D8-485C-917E-28093DA4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247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질문을 구조화된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실행 조건으로 변환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2800D-C2A5-4313-A145-42D7E062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977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F6D237-1C4B-41E0-9AA1-FF7FEBF7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3840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822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6DA6B-5508-46BF-B88C-0C574C21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574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계획 검증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43E6A1-07C3-4725-A1FE-FE3522B4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766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로컬 코드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0496C-BD51-4E1A-BDA0-F748B8A5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90950"/>
            <a:ext cx="247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허용 필드와 지표,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비교 조건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01180-B838-4D8C-AB46-3C332E0C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0977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677849-3ABF-49CF-B3E5-50C00B61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3840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822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447A8F-A4BC-423B-9E8D-3E5EA2B3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574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조회와 계산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AC591E-2C93-45F1-957E-16568E54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766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로컬 코드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C0B2B1-C419-4106-96E6-CB27EF7A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90950"/>
            <a:ext cx="247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상품별 SQL 실행,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순위와 근거 구성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C705FD-420A-417D-9C40-0DBA3E6E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0977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4EACE8-60B3-47DF-99AB-58C18119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3840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822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FF4B9B-CD88-4F37-9F21-2CC876E0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574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답변 단계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1B0B11-E334-420B-8F75-8A0DC94D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766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HCX-007 + 코드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1D834D-9031-4B9D-AA84-BE1DA791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90950"/>
            <a:ext cx="247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사실 묶음 전달 후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문장을 검증해 게시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442DEB-0A6C-4C6E-B0A6-6A0F66A1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4D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EF0FC0-822E-4AC9-B78F-BC49769A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현재 답변 단계의 경계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ECCBA8-4BB2-48C1-BC54-0F8A7FA4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HCX는 허용된 두 도입문 중 하나를 반환합니다. 코드는 그 뒤에 검증된 본문을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그대로 붙입니다. HCX가 상품명·수치·순위를 새로 쓰거나 고치지는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5795817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1E3952-2075-4D65-94BF-E9505E79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Agent.종필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3F200-9ADD-4862-836D-188BC863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2026년 8월 배포 데이터와 원천 보존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44C82-BF62-4CEA-8472-D131D304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822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2C468-4D12-470C-A478-F859A21B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근거: 공식 08.24 재배포 공지, 원천 감사 및 artifacts/manifest.json.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05027-3408-4349-BE1A-C056044B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C01E6-9F05-4073-B312-4EBD0463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53,375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FB56B-E7A2-468D-BDCB-754FF65A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감사된 원천 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F0DBF-15EC-43E0-9761-815DFF9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478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9E0C1-1EB1-40DA-85FE-FAE68848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098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정규화 테이블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D9045-22DE-461F-96C5-4E993AB6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478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23AB7-A3CC-4F2B-95C0-4B847148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098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공식 원천 파일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2E5E9-999C-4642-9CAA-F6F82811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4D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9EF53-3EA2-4F7A-9B89-682252BD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원시값과 변환 결과를 함께 보존합니다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B7F37C-B34F-40F3-81EC-E2DF7D86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파일·시트·행·열의 위치, 원시값, 정규화값, 변환 규칙 버전, 품질 상태와 적용일을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연결합니다. 잘못된 행도 지우지 않고 격리 기록으로 남깁니다.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FEBBA1-1A63-4757-B902-86C064A8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기준 시점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1D9968-393E-4090-87DB-2599D65D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67325"/>
            <a:ext cx="919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2026-08-24 배포본. 국내·공모펀드는 08.22, 해외는 08.23 KST까지.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7242C-E57A-457A-8F55-69102040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0과 결측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A151C4-E5A5-48CF-BABF-F414722D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753100"/>
            <a:ext cx="919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원시값은 유지하고, 공식 공지와 지표별 정책에 따라 표시·순위에서 처리합니다.</a:t>
            </a:r>
          </a:p>
        </p:txBody>
      </p:sp>
    </p:spTree>
    <p:extLst>
      <p:ext uri="{BB962C8B-B14F-4D97-AF65-F5344CB8AC3E}">
        <p14:creationId xmlns:p14="http://schemas.microsoft.com/office/powerpoint/2010/main" val="653448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CF676-3E81-4923-94DC-E71F85E8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Agent.종필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D1C6A-94B4-49A3-A62A-5105C43A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온톨로지와 상품별 결과 단위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0BE73-C70C-4B93-90A6-4DDBCF82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822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E7E14-8D8C-4F9A-B703-F0B97ACA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정의 파일: common.ttl, bond_kr.ttl, etf_kr.ttl, etf_gl.ttl, fund_pub.ttl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A9CAA-337D-49D6-BE7C-2ACEBEBF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A5A05-5137-4C06-90E8-5165877E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공통 Product 아래에 상품군별 식별 단위와 근거 모델을 정의합니다.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2486025"/>
          <a:ext xmlns:a="http://schemas.openxmlformats.org/drawingml/2006/main" cx="10972800" cy="2781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47900"/>
                <a:gridCol w="2933700"/>
                <a:gridCol w="5791200"/>
              </a:tblGrid>
              <a:tr h="4191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상품군</a:t>
                      </a:r>
                    </a:p>
                  </a:txBody>
                  <a:tcPr marL="91440" marR="91440" marT="45720" marB="45720" anchor="ctr">
                    <a:solidFill>
                      <a:srgbClr val="043B7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결과 단위</a:t>
                      </a:r>
                    </a:p>
                  </a:txBody>
                  <a:tcPr marL="91440" marR="91440" marT="45720" marB="45720" anchor="ctr">
                    <a:solidFill>
                      <a:srgbClr val="043B7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질의 처리에서의 의미</a:t>
                      </a:r>
                    </a:p>
                  </a:txBody>
                  <a:tcPr marL="91440" marR="91440" marT="45720" marB="45720" anchor="ctr">
                    <a:solidFill>
                      <a:srgbClr val="043B72"/>
                    </a:solidFill>
                  </a:tcPr>
                </a:tc>
              </a:tr>
              <a:tr h="5905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국내채권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instrument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동일 종목의 여러 로트를 정책에 따라 처리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국내 ETF·ETN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listed_product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상장 상품 단위로 조회. 일반 ETF 질의는 ETN 제외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해외 ETF·ETN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listed_product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상품 식별과 지표의 기간·통화를 함께 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공모펀드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fund_item / itm_no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속성 행이 여러 개여도 기본 결과는 펀드 아이템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AA0AF-510E-435A-B9C9-E0553D98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공통 근거 모델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1E0CD-7CE9-4B32-A3A9-2E29BA15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715000"/>
            <a:ext cx="859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각 결과의 값에 원천 위치와 적용일을 연결해 추적할 수 있게 합니다.</a:t>
            </a:r>
          </a:p>
        </p:txBody>
      </p:sp>
    </p:spTree>
    <p:extLst>
      <p:ext uri="{BB962C8B-B14F-4D97-AF65-F5344CB8AC3E}">
        <p14:creationId xmlns:p14="http://schemas.microsoft.com/office/powerpoint/2010/main" val="12306614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0F65F-7603-470F-A9AE-AD06C833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Agent.종필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12689-7028-4799-92D2-8FFCD8F4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질문을 실행 조건으로 바꾸는 과정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BA6D8-94F4-40D7-B725-D5F520F0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822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F8716-111D-437C-BEB1-D4F1A5D3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근거: ORG-20260824-E-001의 승인 계획. 아래는 전체 QueryPlan 중 핵심 필드만 발췌.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B363C-BACC-461E-9314-228A5283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EE8C8-6C28-4905-B004-6A3F7084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3쪽의 채권 질문을 이렇게 해석합니다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2419350"/>
          <a:ext xmlns:a="http://schemas.openxmlformats.org/drawingml/2006/main" cx="10972800" cy="2495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000500"/>
                <a:gridCol w="6972300"/>
              </a:tblGrid>
              <a:tr h="4191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질문의 조건</a:t>
                      </a:r>
                    </a:p>
                  </a:txBody>
                  <a:tcPr marL="91440" marR="91440" marT="45720" marB="45720" anchor="ctr">
                    <a:solidFill>
                      <a:srgbClr val="043B7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실행 계획</a:t>
                      </a:r>
                    </a:p>
                  </a:txBody>
                  <a:tcPr marL="91440" marR="91440" marT="45720" marB="45720" anchor="ctr">
                    <a:solidFill>
                      <a:srgbClr val="043B72"/>
                    </a:solidFill>
                  </a:tcPr>
                </a:tc>
              </a:tr>
              <a:tr h="51911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“국내채권”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product_types: domestic_bond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“매수수익률이 높은”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buy_yield / 내림차순(desc)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“5개”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top_k: 5 / top_k_scope: global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“2026년 8월 24일 제공 데이터”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as_of_date: 2026-08-24 / result_grain: instrument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ECA38-5B6D-4CF4-AC49-FA415F85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등록 규칙으로 실행 가능성을 확인합니다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17E6C-BF21-4F14-955A-53DE8567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스키마와 의미 검증을 통과한 계획만 SQL로 변환합니다. 허용되지 않은 필드나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해석이 불확실한 조건은 실행하지 않고 확인 불가 또는 조건 확인으로 처리합니다.</a:t>
            </a:r>
          </a:p>
        </p:txBody>
      </p:sp>
    </p:spTree>
    <p:extLst>
      <p:ext uri="{BB962C8B-B14F-4D97-AF65-F5344CB8AC3E}">
        <p14:creationId xmlns:p14="http://schemas.microsoft.com/office/powerpoint/2010/main" val="18711575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75C4C-59B8-4787-A398-64C111DA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Agent.종필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5841E-0418-450A-8466-2A9CA7E0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교차상품은 비교 가능한 범위에서 나눕니다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D3D4A-CA99-42D0-BB89-94D36BC0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822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2A3D7-757D-4C8F-87CF-D4F10271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설계 예시. 상품군별 상위 개수를 지정하는 top_k_scope: per_product_type.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09CCB-31F6-461A-A503-CD0B5A49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5C518-B738-4763-81D6-FCBAA233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“국내 ETF와 공모펀드에서 각각 1년 수익률이 확인되는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상위 3개를 보여줘.”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2819400"/>
          <a:ext xmlns:a="http://schemas.openxmlformats.org/drawingml/2006/main" cx="10972800" cy="2114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81300"/>
                <a:gridCol w="3105150"/>
                <a:gridCol w="5086350"/>
              </a:tblGrid>
              <a:tr h="4191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대상</a:t>
                      </a:r>
                    </a:p>
                  </a:txBody>
                  <a:tcPr marL="91440" marR="91440" marT="45720" marB="45720" anchor="ctr">
                    <a:solidFill>
                      <a:srgbClr val="043B7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확인할 지표</a:t>
                      </a:r>
                    </a:p>
                  </a:txBody>
                  <a:tcPr marL="91440" marR="91440" marT="45720" marB="45720" anchor="ctr">
                    <a:solidFill>
                      <a:srgbClr val="043B7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처리</a:t>
                      </a:r>
                    </a:p>
                  </a:txBody>
                  <a:tcPr marL="91440" marR="91440" marT="45720" marB="45720" anchor="ctr">
                    <a:solidFill>
                      <a:srgbClr val="043B72"/>
                    </a:solidFill>
                  </a:tcPr>
                </a:tc>
              </a:tr>
              <a:tr h="5651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국내 ETF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1년 수익률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국내 ETF 안에서 상위 3개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공모펀드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1년 수익률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itm_no 기준으로 상위 3개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해외 ETF가 추가된 경우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1일 수익률만 제공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1년 수익률 비교 대상에서는 제외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93F00-EBD1-4BEA-976A-5C397A35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상품군별로 먼저 순위를 계산합니다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A294F6-D93B-436B-A951-6CA24C22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상품군별로 실행하고 결과를 묶습니다. 전체 통합 순위는 지표·단위·기간·통화·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상태 정책이 모두 호환될 때만 허용합니다.</a:t>
            </a:r>
          </a:p>
        </p:txBody>
      </p:sp>
    </p:spTree>
    <p:extLst>
      <p:ext uri="{BB962C8B-B14F-4D97-AF65-F5344CB8AC3E}">
        <p14:creationId xmlns:p14="http://schemas.microsoft.com/office/powerpoint/2010/main" val="221128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91CCE7-E247-41C7-B73B-E8235D0B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Agent.종필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36A50-3422-416A-932F-B91EA9BA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답변의 수치와 근거를 연결하는 방식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61DDD-0D23-4E2B-8C83-0AB7461A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822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A2CAC-BCFB-43E6-8CBE-ED554EEE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근거: ORG-20260824-E-001의 저장된 답변 및 FactPack claim_signatures 발췌.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C016C-BB04-4FAA-809F-B2C0E072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DC556-0DA8-4DF2-9FB0-9F83909C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3위. 한국투자캐피탈133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5ACC6-DF3A-424F-8571-6D2D7591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매수수익률 4.988%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7C91E-9174-46C1-9B5C-EBD5DE69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336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75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KR6214341G28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609600" y="3143250"/>
          <a:ext xmlns:a="http://schemas.openxmlformats.org/drawingml/2006/main" cx="10972800" cy="19431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86000"/>
                <a:gridCol w="8686800"/>
              </a:tblGrid>
              <a:tr h="4191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검사 대상</a:t>
                      </a:r>
                    </a:p>
                  </a:txBody>
                  <a:tcPr marL="91440" marR="91440" marT="45720" marB="45720" anchor="ctr">
                    <a:solidFill>
                      <a:srgbClr val="043B7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저장된 근거 정보</a:t>
                      </a:r>
                    </a:p>
                  </a:txBody>
                  <a:tcPr marL="91440" marR="91440" marT="45720" marB="45720" anchor="ctr">
                    <a:solidFill>
                      <a:srgbClr val="043B72"/>
                    </a:solidFill>
                  </a:tcPr>
                </a:tc>
              </a:tr>
              <a:tr h="5080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상품과 수치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product_id: KR6214341G28 / buy_yield: 4.988 / 단위: 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순위와 근거 연결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rank: 3 / summary:rank:2 / 해당 상품의 product_id 근거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함께 전달하는 제한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유효 로트 중 최댓값 선택. 관측 범위는 4.78~4.988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E4991-82E5-4A14-A0E3-5F417E6F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표현 가능한 사실만 본문에 남깁니다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D319D-B711-45AD-9DBA-FBF78172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수치·순위·제외 사유를 검증합니다. think_trace에는 숨은 추론 대신 재현 가능한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실행 단계를 담고, 근거가 없는 문장이나 검증 실패는 게시하지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646832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629850-45C0-4694-B721-BDBF513A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Agent.종필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137D7-5348-4F51-A18D-35F02961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현업 활용 지점과 현재 제공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FB546-AE60-455B-92DF-11FC7B15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822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1E8B7-ECDD-4185-B4CF-8E479BEA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현업 활용은 기대 시나리오입니다. 시간 절감이나 투자 성과를 측정한 결과는 아닙니다.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A4FF2-BC6B-49F6-A2E4-3D86A2CC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54249-AA1A-449D-B895-37889097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상담 담당자의 비교 검토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C53D2-8EBA-4E3A-AA9C-90527BA5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5238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조건에 맞는 후보를 보고, 수치의 기준일과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근거를 확인합니다. 서로 비교할 수 없는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상품은 구분된 결과로 검토합니다.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1A252A-04B8-4F07-9670-1677A2EB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28800"/>
            <a:ext cx="501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운영 담당자의 재현과 통제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E633E-73DC-4A49-AF02-75B3057D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62225"/>
            <a:ext cx="5010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원천과 등록 규칙을 고정해 결과를 재현합니다.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새 상품군은 결과 단위와 지표 정책을 정의하고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계약 테스트를 통과한 뒤 추가합니다.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DAFEE-F738-4AC6-9858-1C0C981C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4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2F3EA-E207-4382-9266-3219160C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현재 제공하지 않는 범위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B7051-E4FB-4C61-899D-17D0714A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구성종목 기반 검색 · 해외 ETF 1년 수익률 · 실시간 값과 수익 전망 · 단정적 추천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70893-299A-4F4D-8C2D-41E682BE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구성종목은 제출 데이터에 확인 불가 상태 31,492건으로 기록했습니다.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근거가 없는 보유 관계를 추정해 채우지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5781622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D20E65-9EBF-4C5C-B228-E76087C3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Agent.종필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03030-CC3F-42BC-BD24-67B9F8FF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자체 평가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6105E-C0B8-4A61-B950-B2AA9772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822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2A911-9433-4263-A798-F0C92E7C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팀이 구성한 자체 평가입니다. 주최측의 비공개 실전 문항이나 공식 점수가 아닙니다.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9A7DC-199E-48D4-A1AD-18BDAA9D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23B6E-81A3-4B63-8250-ED4FA9C3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개발 144건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E7AA9-2A86-4793-AB3D-C563E84B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검토된 계획과 기준답안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5732F2-C2E4-4E7F-A741-685FB8D6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52387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교차상품, 결측·0, 답변불가, 오타·동의어 등을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포함합니다. 승인된 계획을 재생해 검색·계산·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근거 구성의 회귀를 확인했습니다.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CD792D-EFFD-40DC-9E2A-C29EFAA4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5238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계획 재생 144/144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9EAB5-1E77-4229-8023-06EAB2E0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13개 집계 축 1.0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6D773-9F8B-4799-A8DB-5393FDD8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봉인 평가 48건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4D8753-0490-411A-8AB9-F3F678EF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43175"/>
            <a:ext cx="501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처음 보는 질문의 전체 처리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11DE76-7CB2-420E-AD11-29CB96E1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81350"/>
            <a:ext cx="50101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질문·정답·개별 결과는 NCP 평가 환경에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분리했습니다. 후보를 고정한 뒤 실행하고,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개발 환경에는 집계 결과만 반환했습니다.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C1A047-3A40-49EC-A370-787BCEA4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43450"/>
            <a:ext cx="5010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정상 응답 25건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9DAF2-79D6-42AD-8428-311EF8E0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57800"/>
            <a:ext cx="5010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안전 종료 23건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2D72E7-F085-48FA-954A-4B08F744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계획 재생과 전체 처리는 서로 다른 시험입니다.</a:t>
            </a:r>
          </a:p>
        </p:txBody>
      </p:sp>
    </p:spTree>
    <p:extLst>
      <p:ext uri="{BB962C8B-B14F-4D97-AF65-F5344CB8AC3E}">
        <p14:creationId xmlns:p14="http://schemas.microsoft.com/office/powerpoint/2010/main" val="14842152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779850-E807-4B2C-A96F-95FCE0FD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Agent.종필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991FC-8C2A-4F1D-8410-DA68F3BB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봉인 평가 48건: 지표별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5DE75-AEFB-47E2-8517-B7342473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822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1605E-8A6F-4BFC-B02C-2452FF09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근거: blind-holdout-summary.json. 축마다 분모가 다르며 정상 응답 수와 정답 수는 같지 않음.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144FB-E7E3-4E8B-8817-995F838B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5EBA8-C8EB-4D72-A93D-7D3775B6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처음 보는 질문의 집계 점수 (%)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23875" y="2419350"/>
          <a:ext xmlns:a="http://schemas.openxmlformats.org/drawingml/2006/main" cx="7391400" cy="3486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78dba228864f9b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060A8-BAAD-4D2E-822A-3C8DE550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09825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25 / 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8B7453-5CF1-4972-BF4A-48B616E1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14675"/>
            <a:ext cx="320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정상 응답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나머지 23건은 안전 종료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D4DEA6-AB64-437C-AED8-2331F9AF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43375"/>
            <a:ext cx="3200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해석할 때 주의할 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7031C-6886-4D86-A42E-A7049BAE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76775"/>
            <a:ext cx="32004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수치는 축별 채점 결과입니다.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‘답변 의미’는 필수·금지 개념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검사이며, 사람의 종합 품질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평가 점수가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4161806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61B4B-64EE-4CBC-B96B-3783342C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Agent.종필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D4F66-4EDD-4BDC-B7B7-D856CB97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응답 지연과 반복 안정성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10364-61F1-4362-820F-34F0A961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822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617BD-8ABD-41BD-953D-5EA3EA46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근거: final-load.json, final-soak.json, 개발 재생 및 봉인 평가 집계. 서로 다른 후보·요청 구성.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FE053-36B8-4A6F-A197-5591B93F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8A935-868F-4D2D-83BA-E9E9226A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p95: 관측 요청의 약 95%가 이 시간 안에 응답한 경계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240030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86100"/>
                <a:gridCol w="5981700"/>
                <a:gridCol w="1905000"/>
              </a:tblGrid>
              <a:tr h="4191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시험</a:t>
                      </a:r>
                    </a:p>
                  </a:txBody>
                  <a:tcPr marL="91440" marR="91440" marT="45720" marB="45720" anchor="ctr">
                    <a:solidFill>
                      <a:srgbClr val="043B7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요청 구성과 결과</a:t>
                      </a:r>
                    </a:p>
                  </a:txBody>
                  <a:tcPr marL="91440" marR="91440" marT="45720" marB="45720" anchor="ctr">
                    <a:solidFill>
                      <a:srgbClr val="043B7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p95</a:t>
                      </a:r>
                    </a:p>
                  </a:txBody>
                  <a:tcPr marL="91440" marR="91440" marT="45720" marB="45720" anchor="ctr">
                    <a:solidFill>
                      <a:srgbClr val="043B72"/>
                    </a:solidFill>
                  </a:tcPr>
                </a:tc>
              </a:tr>
              <a:tr h="7493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결정론 계획 재생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검토된 계획 144건 / HCX 단계 제외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sz="2025" b="1">
                          <a:solidFill>
                            <a:srgbClr val="043B7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0.625초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93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최종 HCX API 부하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검토된 4개 질의를 가중 반복</a:t>
                      </a:r>
                    </a:p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35요청 / 정상 35 / 실패 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sz="2025" b="1">
                          <a:solidFill>
                            <a:srgbClr val="043B7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11.008초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93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봉인 평가 API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처음 보는 질문 48건</a:t>
                      </a:r>
                    </a:p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정상 25 / 안전 종료 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sz="2025" b="1">
                          <a:solidFill>
                            <a:srgbClr val="043B7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31.611초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26D28-A5DF-41BB-8E11-F61F4202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20회 반복 · 80회 관측 · 약 18.7분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3A762B-89AD-4069-85A8-CE05F331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실패 0건, 결과 변동 0건. 이 범위의 안정성 확인이며 24시간 검증은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5334847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471DD1-3FF4-490A-A7C4-0A0A9A9C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Agent.종필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51E39-A39D-49E6-B50B-269D3464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API와 재현 자료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928AD-6EFA-4CA5-8FB1-3A8A4B95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822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B0476-2FCA-4C74-97D9-3D358693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근거와 측정 후보: PROPOSAL_EVIDENCE_INDEX.md 및 RELEASE_RECORD.md.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B50C2-1451-4C1F-B0D0-9FA50548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A0012-A37F-4A67-BB8F-7371D3E4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평가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CDED0-A096-4AFF-8BA2-C2A23751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GET https://101-79-30-91.sslip.io/answer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4D27C-EB65-4D86-850D-2716AC20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요청: question_id, question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응답: question_id, question, retrieved_context, think_trace, answer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다섯 필드는 모두 문자열입니다.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CD8C0-3E8C-4CEA-BB84-FC8B5976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4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8C5F5-774A-4A0D-B905-8802D217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재현 절차와 제출 파일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869B4-C020-427F-AE7C-0D9DD35D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657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의존성 고정 설치와 원천 검증 후 데이터를 빌드합니다.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Docker 이미지와 release manifest를 확인합니다.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B3B"/>
                </a:solidFill>
                <a:latin typeface="Apple SD Gothic Neo"/>
                <a:ea typeface="Apple SD Gothic Neo"/>
                <a:cs typeface="Apple SD Gothic Neo"/>
              </a:rPr>
              <a:t>실제 명령과 환경은 README에 정리했습니다.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B11AD-0F27-43A4-B129-E88C5C97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38675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PDF 기술제안서 / 편집 가능한 PPTX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API 명세 / 소스 / 재현 환경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EE0676-05D9-4786-9434-EB6B451A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514975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043B72"/>
                </a:solidFill>
                <a:latin typeface="Apple SD Gothic Neo"/>
                <a:ea typeface="Apple SD Gothic Neo"/>
                <a:cs typeface="Apple SD Gothic Neo"/>
              </a:rPr>
              <a:t>팀 Agent.종필  곽태성 · 유영준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688F91-A83A-49F2-A1B4-41263D66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962650"/>
            <a:ext cx="3905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46473"/>
                </a:solidFill>
                <a:latin typeface="Apple SD Gothic Neo"/>
                <a:ea typeface="Apple SD Gothic Neo"/>
                <a:cs typeface="Apple SD Gothic Neo"/>
              </a:rPr>
              <a:t>운영: 09.07 10:00 ~ 09.11 15:00 KST</a:t>
            </a:r>
          </a:p>
        </p:txBody>
      </p:sp>
    </p:spTree>
    <p:extLst>
      <p:ext uri="{BB962C8B-B14F-4D97-AF65-F5344CB8AC3E}">
        <p14:creationId xmlns:p14="http://schemas.microsoft.com/office/powerpoint/2010/main" val="17848274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1="http://purl.org/dc/terms/" xmlns:xsi="http://www.w3.org/2001/XMLSchema-instance">
  <ns0:lastModifiedBy>Walnut Exporter</ns0:lastModifiedBy>
  <ns1:created xsi:type="dcterms:W3CDTF">2026-09-06T13:12:55.3880000Z</ns1:created>
  <ns1:modified xsi:type="dcterms:W3CDTF">2026-09-06T13:12:55.3880000Z</ns1:modified>
  <dc:creator>Agent.종필</dc:creator>
  <dc:title>FinProof 기술 제안서</dc:title>
  <dc:subject>2026 미래에셋증권 AI Festival 금융상품 Agent</dc:subject>
</ns0:coreProperties>
</file>